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1pPr>
    <a:lvl2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2pPr>
    <a:lvl3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3pPr>
    <a:lvl4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4pPr>
    <a:lvl5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5pPr>
    <a:lvl6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6pPr>
    <a:lvl7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7pPr>
    <a:lvl8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8pPr>
    <a:lvl9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Light"/>
          <a:ea typeface="Helvetica Neue Light"/>
          <a:cs typeface="Helvetica Neue Light"/>
        </a:font>
        <a:srgbClr val="74747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7D9"/>
          </a:solidFill>
        </a:fill>
      </a:tcStyle>
    </a:wholeTbl>
    <a:band2H>
      <a:tcTxStyle b="def" i="def"/>
      <a:tcStyle>
        <a:tcBdr/>
        <a:fill>
          <a:solidFill>
            <a:srgbClr val="E9EC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Helvetica Neue Light"/>
          <a:ea typeface="Helvetica Neue Light"/>
          <a:cs typeface="Helvetica Neue Light"/>
        </a:font>
        <a:srgbClr val="74747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4DED8"/>
          </a:solidFill>
        </a:fill>
      </a:tcStyle>
    </a:wholeTbl>
    <a:band2H>
      <a:tcTxStyle b="def" i="def"/>
      <a:tcStyle>
        <a:tcBdr/>
        <a:fill>
          <a:solidFill>
            <a:srgbClr val="F2EF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Helvetica Neue Light"/>
          <a:ea typeface="Helvetica Neue Light"/>
          <a:cs typeface="Helvetica Neue Light"/>
        </a:font>
        <a:srgbClr val="74747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2D6"/>
          </a:solidFill>
        </a:fill>
      </a:tcStyle>
    </a:wholeTbl>
    <a:band2H>
      <a:tcTxStyle b="def" i="def"/>
      <a:tcStyle>
        <a:tcBdr/>
        <a:fill>
          <a:solidFill>
            <a:srgbClr val="EAEA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Helvetica Neue Light"/>
          <a:ea typeface="Helvetica Neue Light"/>
          <a:cs typeface="Helvetica Neue Light"/>
        </a:font>
        <a:srgbClr val="74747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BEBEB"/>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747474"/>
        </a:fontRef>
        <a:srgbClr val="747474"/>
      </a:tcTxStyle>
      <a:tcStyle>
        <a:tcBdr>
          <a:left>
            <a:ln w="12700" cap="flat">
              <a:noFill/>
              <a:miter lim="400000"/>
            </a:ln>
          </a:left>
          <a:right>
            <a:ln w="12700" cap="flat">
              <a:noFill/>
              <a:miter lim="400000"/>
            </a:ln>
          </a:right>
          <a:top>
            <a:ln w="50800" cap="flat">
              <a:solidFill>
                <a:srgbClr val="747474"/>
              </a:solidFill>
              <a:prstDash val="solid"/>
              <a:round/>
            </a:ln>
          </a:top>
          <a:bottom>
            <a:ln w="25400" cap="flat">
              <a:solidFill>
                <a:srgbClr val="747474"/>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747474"/>
              </a:solidFill>
              <a:prstDash val="solid"/>
              <a:round/>
            </a:ln>
          </a:top>
          <a:bottom>
            <a:ln w="25400" cap="flat">
              <a:solidFill>
                <a:srgbClr val="747474"/>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Helvetica Neue Light"/>
          <a:ea typeface="Helvetica Neue Light"/>
          <a:cs typeface="Helvetica Neue Light"/>
        </a:font>
        <a:srgbClr val="74747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5D5"/>
          </a:solidFill>
        </a:fill>
      </a:tcStyle>
    </a:wholeTbl>
    <a:band2H>
      <a:tcTxStyle b="def" i="def"/>
      <a:tcStyle>
        <a:tcBdr/>
        <a:fill>
          <a:solidFill>
            <a:srgbClr val="EBEBEB"/>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747474"/>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747474"/>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747474"/>
          </a:solidFill>
        </a:fill>
      </a:tcStyle>
    </a:firstRow>
  </a:tblStyle>
  <a:tblStyle styleId="{2708684C-4D16-4618-839F-0558EEFCDFE6}" styleName="">
    <a:tblBg/>
    <a:wholeTbl>
      <a:tcTxStyle b="off" i="off">
        <a:font>
          <a:latin typeface="Helvetica Neue Light"/>
          <a:ea typeface="Helvetica Neue Light"/>
          <a:cs typeface="Helvetica Neue Light"/>
        </a:font>
        <a:srgbClr val="747474"/>
      </a:tcTxStyle>
      <a:tcStyle>
        <a:tcBdr>
          <a:left>
            <a:ln w="12700" cap="flat">
              <a:solidFill>
                <a:srgbClr val="747474"/>
              </a:solidFill>
              <a:prstDash val="solid"/>
              <a:round/>
            </a:ln>
          </a:left>
          <a:right>
            <a:ln w="12700" cap="flat">
              <a:solidFill>
                <a:srgbClr val="747474"/>
              </a:solidFill>
              <a:prstDash val="solid"/>
              <a:round/>
            </a:ln>
          </a:right>
          <a:top>
            <a:ln w="12700" cap="flat">
              <a:solidFill>
                <a:srgbClr val="747474"/>
              </a:solidFill>
              <a:prstDash val="solid"/>
              <a:round/>
            </a:ln>
          </a:top>
          <a:bottom>
            <a:ln w="12700" cap="flat">
              <a:solidFill>
                <a:srgbClr val="747474"/>
              </a:solidFill>
              <a:prstDash val="solid"/>
              <a:round/>
            </a:ln>
          </a:bottom>
          <a:insideH>
            <a:ln w="12700" cap="flat">
              <a:solidFill>
                <a:srgbClr val="747474"/>
              </a:solidFill>
              <a:prstDash val="solid"/>
              <a:round/>
            </a:ln>
          </a:insideH>
          <a:insideV>
            <a:ln w="12700" cap="flat">
              <a:solidFill>
                <a:srgbClr val="747474"/>
              </a:solidFill>
              <a:prstDash val="solid"/>
              <a:round/>
            </a:ln>
          </a:insideV>
        </a:tcBdr>
        <a:fill>
          <a:solidFill>
            <a:srgbClr val="747474">
              <a:alpha val="20000"/>
            </a:srgbClr>
          </a:solidFill>
        </a:fill>
      </a:tcStyle>
    </a:wholeTbl>
    <a:band2H>
      <a:tcTxStyle b="def" i="def"/>
      <a:tcStyle>
        <a:tcBdr/>
        <a:fill>
          <a:solidFill>
            <a:srgbClr val="FFFFFF"/>
          </a:solidFill>
        </a:fill>
      </a:tcStyle>
    </a:band2H>
    <a:firstCol>
      <a:tcTxStyle b="on" i="off">
        <a:fontRef idx="minor">
          <a:srgbClr val="747474"/>
        </a:fontRef>
        <a:srgbClr val="747474"/>
      </a:tcTxStyle>
      <a:tcStyle>
        <a:tcBdr>
          <a:left>
            <a:ln w="12700" cap="flat">
              <a:solidFill>
                <a:srgbClr val="747474"/>
              </a:solidFill>
              <a:prstDash val="solid"/>
              <a:round/>
            </a:ln>
          </a:left>
          <a:right>
            <a:ln w="12700" cap="flat">
              <a:solidFill>
                <a:srgbClr val="747474"/>
              </a:solidFill>
              <a:prstDash val="solid"/>
              <a:round/>
            </a:ln>
          </a:right>
          <a:top>
            <a:ln w="12700" cap="flat">
              <a:solidFill>
                <a:srgbClr val="747474"/>
              </a:solidFill>
              <a:prstDash val="solid"/>
              <a:round/>
            </a:ln>
          </a:top>
          <a:bottom>
            <a:ln w="12700" cap="flat">
              <a:solidFill>
                <a:srgbClr val="747474"/>
              </a:solidFill>
              <a:prstDash val="solid"/>
              <a:round/>
            </a:ln>
          </a:bottom>
          <a:insideH>
            <a:ln w="12700" cap="flat">
              <a:solidFill>
                <a:srgbClr val="747474"/>
              </a:solidFill>
              <a:prstDash val="solid"/>
              <a:round/>
            </a:ln>
          </a:insideH>
          <a:insideV>
            <a:ln w="12700" cap="flat">
              <a:solidFill>
                <a:srgbClr val="747474"/>
              </a:solidFill>
              <a:prstDash val="solid"/>
              <a:round/>
            </a:ln>
          </a:insideV>
        </a:tcBdr>
        <a:fill>
          <a:solidFill>
            <a:srgbClr val="747474">
              <a:alpha val="20000"/>
            </a:srgbClr>
          </a:solidFill>
        </a:fill>
      </a:tcStyle>
    </a:firstCol>
    <a:lastRow>
      <a:tcTxStyle b="on" i="off">
        <a:fontRef idx="minor">
          <a:srgbClr val="747474"/>
        </a:fontRef>
        <a:srgbClr val="747474"/>
      </a:tcTxStyle>
      <a:tcStyle>
        <a:tcBdr>
          <a:left>
            <a:ln w="12700" cap="flat">
              <a:solidFill>
                <a:srgbClr val="747474"/>
              </a:solidFill>
              <a:prstDash val="solid"/>
              <a:round/>
            </a:ln>
          </a:left>
          <a:right>
            <a:ln w="12700" cap="flat">
              <a:solidFill>
                <a:srgbClr val="747474"/>
              </a:solidFill>
              <a:prstDash val="solid"/>
              <a:round/>
            </a:ln>
          </a:right>
          <a:top>
            <a:ln w="50800" cap="flat">
              <a:solidFill>
                <a:srgbClr val="747474"/>
              </a:solidFill>
              <a:prstDash val="solid"/>
              <a:round/>
            </a:ln>
          </a:top>
          <a:bottom>
            <a:ln w="12700" cap="flat">
              <a:solidFill>
                <a:srgbClr val="747474"/>
              </a:solidFill>
              <a:prstDash val="solid"/>
              <a:round/>
            </a:ln>
          </a:bottom>
          <a:insideH>
            <a:ln w="12700" cap="flat">
              <a:solidFill>
                <a:srgbClr val="747474"/>
              </a:solidFill>
              <a:prstDash val="solid"/>
              <a:round/>
            </a:ln>
          </a:insideH>
          <a:insideV>
            <a:ln w="12700" cap="flat">
              <a:solidFill>
                <a:srgbClr val="747474"/>
              </a:solidFill>
              <a:prstDash val="solid"/>
              <a:round/>
            </a:ln>
          </a:insideV>
        </a:tcBdr>
        <a:fill>
          <a:noFill/>
        </a:fill>
      </a:tcStyle>
    </a:lastRow>
    <a:firstRow>
      <a:tcTxStyle b="on" i="off">
        <a:fontRef idx="minor">
          <a:srgbClr val="747474"/>
        </a:fontRef>
        <a:srgbClr val="747474"/>
      </a:tcTxStyle>
      <a:tcStyle>
        <a:tcBdr>
          <a:left>
            <a:ln w="12700" cap="flat">
              <a:solidFill>
                <a:srgbClr val="747474"/>
              </a:solidFill>
              <a:prstDash val="solid"/>
              <a:round/>
            </a:ln>
          </a:left>
          <a:right>
            <a:ln w="12700" cap="flat">
              <a:solidFill>
                <a:srgbClr val="747474"/>
              </a:solidFill>
              <a:prstDash val="solid"/>
              <a:round/>
            </a:ln>
          </a:right>
          <a:top>
            <a:ln w="12700" cap="flat">
              <a:solidFill>
                <a:srgbClr val="747474"/>
              </a:solidFill>
              <a:prstDash val="solid"/>
              <a:round/>
            </a:ln>
          </a:top>
          <a:bottom>
            <a:ln w="25400" cap="flat">
              <a:solidFill>
                <a:srgbClr val="747474"/>
              </a:solidFill>
              <a:prstDash val="solid"/>
              <a:round/>
            </a:ln>
          </a:bottom>
          <a:insideH>
            <a:ln w="12700" cap="flat">
              <a:solidFill>
                <a:srgbClr val="747474"/>
              </a:solidFill>
              <a:prstDash val="solid"/>
              <a:round/>
            </a:ln>
          </a:insideH>
          <a:insideV>
            <a:ln w="12700" cap="flat">
              <a:solidFill>
                <a:srgbClr val="747474"/>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4" name="Shape 144"/>
          <p:cNvSpPr/>
          <p:nvPr>
            <p:ph type="sldImg"/>
          </p:nvPr>
        </p:nvSpPr>
        <p:spPr>
          <a:xfrm>
            <a:off x="1143000" y="685800"/>
            <a:ext cx="4572000" cy="3429000"/>
          </a:xfrm>
          <a:prstGeom prst="rect">
            <a:avLst/>
          </a:prstGeom>
        </p:spPr>
        <p:txBody>
          <a:bodyPr/>
          <a:lstStyle/>
          <a:p>
            <a:pPr/>
          </a:p>
        </p:txBody>
      </p:sp>
      <p:sp>
        <p:nvSpPr>
          <p:cNvPr id="145" name="Shape 14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2" name="Line"/>
          <p:cNvSpPr/>
          <p:nvPr/>
        </p:nvSpPr>
        <p:spPr>
          <a:xfrm>
            <a:off x="1066800" y="6680200"/>
            <a:ext cx="22252677" cy="183"/>
          </a:xfrm>
          <a:prstGeom prst="line">
            <a:avLst/>
          </a:prstGeom>
          <a:ln w="12700">
            <a:solidFill>
              <a:srgbClr val="9A9A9A"/>
            </a:solidFill>
            <a:miter lim="400000"/>
          </a:ln>
        </p:spPr>
        <p:txBody>
          <a:bodyPr lIns="45718" tIns="45718" rIns="45718" bIns="45718"/>
          <a:lstStyle/>
          <a:p>
            <a:pPr/>
          </a:p>
        </p:txBody>
      </p:sp>
      <p:sp>
        <p:nvSpPr>
          <p:cNvPr id="13" name="Title Text"/>
          <p:cNvSpPr txBox="1"/>
          <p:nvPr>
            <p:ph type="title"/>
          </p:nvPr>
        </p:nvSpPr>
        <p:spPr>
          <a:xfrm>
            <a:off x="1066800" y="1854200"/>
            <a:ext cx="22237700" cy="4470400"/>
          </a:xfrm>
          <a:prstGeom prst="rect">
            <a:avLst/>
          </a:prstGeom>
        </p:spPr>
        <p:txBody>
          <a:bodyPr/>
          <a:lstStyle/>
          <a:p>
            <a:pPr/>
            <a:r>
              <a:t>Title Text</a:t>
            </a:r>
          </a:p>
        </p:txBody>
      </p:sp>
      <p:sp>
        <p:nvSpPr>
          <p:cNvPr id="14" name="Body Level One…"/>
          <p:cNvSpPr txBox="1"/>
          <p:nvPr>
            <p:ph type="body" sz="quarter" idx="1"/>
          </p:nvPr>
        </p:nvSpPr>
        <p:spPr>
          <a:xfrm>
            <a:off x="1066800" y="7048500"/>
            <a:ext cx="22237700" cy="1435100"/>
          </a:xfrm>
          <a:prstGeom prst="rect">
            <a:avLst/>
          </a:prstGeom>
        </p:spPr>
        <p:txBody>
          <a:bodyPr/>
          <a:lstStyle>
            <a:lvl1pPr marL="0" indent="0">
              <a:spcBef>
                <a:spcPts val="0"/>
              </a:spcBef>
              <a:buSzTx/>
              <a:buFontTx/>
              <a:buNone/>
              <a:defRPr sz="3600">
                <a:latin typeface="+mn-lt"/>
                <a:ea typeface="+mn-ea"/>
                <a:cs typeface="+mn-cs"/>
                <a:sym typeface="Helvetica Neue"/>
              </a:defRPr>
            </a:lvl1pPr>
            <a:lvl2pPr marL="0" indent="0">
              <a:spcBef>
                <a:spcPts val="0"/>
              </a:spcBef>
              <a:buSzTx/>
              <a:buFontTx/>
              <a:buNone/>
              <a:defRPr sz="3600">
                <a:latin typeface="+mn-lt"/>
                <a:ea typeface="+mn-ea"/>
                <a:cs typeface="+mn-cs"/>
                <a:sym typeface="Helvetica Neue"/>
              </a:defRPr>
            </a:lvl2pPr>
            <a:lvl3pPr marL="0" indent="0">
              <a:spcBef>
                <a:spcPts val="0"/>
              </a:spcBef>
              <a:buSzTx/>
              <a:buFontTx/>
              <a:buNone/>
              <a:defRPr sz="3600">
                <a:latin typeface="+mn-lt"/>
                <a:ea typeface="+mn-ea"/>
                <a:cs typeface="+mn-cs"/>
                <a:sym typeface="Helvetica Neue"/>
              </a:defRPr>
            </a:lvl3pPr>
            <a:lvl4pPr marL="0" indent="0">
              <a:spcBef>
                <a:spcPts val="0"/>
              </a:spcBef>
              <a:buSzTx/>
              <a:buFontTx/>
              <a:buNone/>
              <a:defRPr sz="3600">
                <a:latin typeface="+mn-lt"/>
                <a:ea typeface="+mn-ea"/>
                <a:cs typeface="+mn-cs"/>
                <a:sym typeface="Helvetica Neue"/>
              </a:defRPr>
            </a:lvl4pPr>
            <a:lvl5pPr marL="0" indent="0">
              <a:spcBef>
                <a:spcPts val="0"/>
              </a:spcBef>
              <a:buSzTx/>
              <a:buFontTx/>
              <a:buNone/>
              <a:defRPr sz="36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 Horizontal">
    <p:spTree>
      <p:nvGrpSpPr>
        <p:cNvPr id="1" name=""/>
        <p:cNvGrpSpPr/>
        <p:nvPr/>
      </p:nvGrpSpPr>
      <p:grpSpPr>
        <a:xfrm>
          <a:off x="0" y="0"/>
          <a:ext cx="0" cy="0"/>
          <a:chOff x="0" y="0"/>
          <a:chExt cx="0" cy="0"/>
        </a:xfrm>
      </p:grpSpPr>
      <p:sp>
        <p:nvSpPr>
          <p:cNvPr id="22" name="Line"/>
          <p:cNvSpPr/>
          <p:nvPr/>
        </p:nvSpPr>
        <p:spPr>
          <a:xfrm>
            <a:off x="14147800" y="11214099"/>
            <a:ext cx="0" cy="2000432"/>
          </a:xfrm>
          <a:prstGeom prst="line">
            <a:avLst/>
          </a:prstGeom>
          <a:ln w="12700">
            <a:solidFill>
              <a:srgbClr val="9A9A9A"/>
            </a:solidFill>
            <a:miter lim="400000"/>
          </a:ln>
        </p:spPr>
        <p:txBody>
          <a:bodyPr lIns="45718" tIns="45718" rIns="45718" bIns="45718"/>
          <a:lstStyle/>
          <a:p>
            <a:pPr/>
          </a:p>
        </p:txBody>
      </p:sp>
      <p:sp>
        <p:nvSpPr>
          <p:cNvPr id="23" name="partial view looking up at the Colosseum under a blue sky"/>
          <p:cNvSpPr/>
          <p:nvPr>
            <p:ph type="pic" idx="21"/>
          </p:nvPr>
        </p:nvSpPr>
        <p:spPr>
          <a:xfrm>
            <a:off x="-88900" y="-38100"/>
            <a:ext cx="35966400" cy="21882100"/>
          </a:xfrm>
          <a:prstGeom prst="rect">
            <a:avLst/>
          </a:prstGeom>
        </p:spPr>
        <p:txBody>
          <a:bodyPr lIns="91439" tIns="45719" rIns="91439" bIns="45719">
            <a:noAutofit/>
          </a:bodyPr>
          <a:lstStyle/>
          <a:p>
            <a:pPr/>
          </a:p>
        </p:txBody>
      </p:sp>
      <p:sp>
        <p:nvSpPr>
          <p:cNvPr id="24" name="Title Text"/>
          <p:cNvSpPr txBox="1"/>
          <p:nvPr>
            <p:ph type="title"/>
          </p:nvPr>
        </p:nvSpPr>
        <p:spPr>
          <a:xfrm>
            <a:off x="2641600" y="10947400"/>
            <a:ext cx="10858500" cy="2387600"/>
          </a:xfrm>
          <a:prstGeom prst="rect">
            <a:avLst/>
          </a:prstGeom>
        </p:spPr>
        <p:txBody>
          <a:bodyPr anchor="ctr"/>
          <a:lstStyle>
            <a:lvl1pPr algn="r"/>
          </a:lstStyle>
          <a:p>
            <a:pPr/>
            <a:r>
              <a:t>Title Text</a:t>
            </a:r>
          </a:p>
        </p:txBody>
      </p:sp>
      <p:sp>
        <p:nvSpPr>
          <p:cNvPr id="25" name="Body Level One…"/>
          <p:cNvSpPr txBox="1"/>
          <p:nvPr>
            <p:ph type="body" sz="quarter" idx="1"/>
          </p:nvPr>
        </p:nvSpPr>
        <p:spPr>
          <a:xfrm>
            <a:off x="14719300" y="11938000"/>
            <a:ext cx="9283700" cy="711200"/>
          </a:xfrm>
          <a:prstGeom prst="rect">
            <a:avLst/>
          </a:prstGeom>
        </p:spPr>
        <p:txBody>
          <a:bodyPr/>
          <a:lstStyle>
            <a:lvl1pPr marL="0" indent="0">
              <a:spcBef>
                <a:spcPts val="0"/>
              </a:spcBef>
              <a:buSzTx/>
              <a:buFontTx/>
              <a:buNone/>
              <a:defRPr sz="3600">
                <a:latin typeface="+mn-lt"/>
                <a:ea typeface="+mn-ea"/>
                <a:cs typeface="+mn-cs"/>
                <a:sym typeface="Helvetica Neue"/>
              </a:defRPr>
            </a:lvl1pPr>
            <a:lvl2pPr marL="0" indent="0">
              <a:spcBef>
                <a:spcPts val="0"/>
              </a:spcBef>
              <a:buSzTx/>
              <a:buFontTx/>
              <a:buNone/>
              <a:defRPr sz="3600">
                <a:latin typeface="+mn-lt"/>
                <a:ea typeface="+mn-ea"/>
                <a:cs typeface="+mn-cs"/>
                <a:sym typeface="Helvetica Neue"/>
              </a:defRPr>
            </a:lvl2pPr>
            <a:lvl3pPr marL="0" indent="0">
              <a:spcBef>
                <a:spcPts val="0"/>
              </a:spcBef>
              <a:buSzTx/>
              <a:buFontTx/>
              <a:buNone/>
              <a:defRPr sz="3600">
                <a:latin typeface="+mn-lt"/>
                <a:ea typeface="+mn-ea"/>
                <a:cs typeface="+mn-cs"/>
                <a:sym typeface="Helvetica Neue"/>
              </a:defRPr>
            </a:lvl3pPr>
            <a:lvl4pPr marL="0" indent="0">
              <a:spcBef>
                <a:spcPts val="0"/>
              </a:spcBef>
              <a:buSzTx/>
              <a:buFontTx/>
              <a:buNone/>
              <a:defRPr sz="3600">
                <a:latin typeface="+mn-lt"/>
                <a:ea typeface="+mn-ea"/>
                <a:cs typeface="+mn-cs"/>
                <a:sym typeface="Helvetica Neue"/>
              </a:defRPr>
            </a:lvl4pPr>
            <a:lvl5pPr marL="0" indent="0">
              <a:spcBef>
                <a:spcPts val="0"/>
              </a:spcBef>
              <a:buSzTx/>
              <a:buFontTx/>
              <a:buNone/>
              <a:defRPr sz="36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 Centre">
    <p:spTree>
      <p:nvGrpSpPr>
        <p:cNvPr id="1" name=""/>
        <p:cNvGrpSpPr/>
        <p:nvPr/>
      </p:nvGrpSpPr>
      <p:grpSpPr>
        <a:xfrm>
          <a:off x="0" y="0"/>
          <a:ext cx="0" cy="0"/>
          <a:chOff x="0" y="0"/>
          <a:chExt cx="0" cy="0"/>
        </a:xfrm>
      </p:grpSpPr>
      <p:sp>
        <p:nvSpPr>
          <p:cNvPr id="33" name="Title Text"/>
          <p:cNvSpPr txBox="1"/>
          <p:nvPr>
            <p:ph type="title"/>
          </p:nvPr>
        </p:nvSpPr>
        <p:spPr>
          <a:xfrm>
            <a:off x="1066800" y="4622800"/>
            <a:ext cx="22237700" cy="4470400"/>
          </a:xfrm>
          <a:prstGeom prst="rect">
            <a:avLst/>
          </a:prstGeom>
        </p:spPr>
        <p:txBody>
          <a:bodyPr anchor="ctr"/>
          <a:lstStyle/>
          <a:p>
            <a:pPr/>
            <a:r>
              <a:t>Title Text</a:t>
            </a:r>
          </a:p>
        </p:txBody>
      </p:sp>
      <p:sp>
        <p:nvSpPr>
          <p:cNvPr id="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 Vertical">
    <p:spTree>
      <p:nvGrpSpPr>
        <p:cNvPr id="1" name=""/>
        <p:cNvGrpSpPr/>
        <p:nvPr/>
      </p:nvGrpSpPr>
      <p:grpSpPr>
        <a:xfrm>
          <a:off x="0" y="0"/>
          <a:ext cx="0" cy="0"/>
          <a:chOff x="0" y="0"/>
          <a:chExt cx="0" cy="0"/>
        </a:xfrm>
      </p:grpSpPr>
      <p:sp>
        <p:nvSpPr>
          <p:cNvPr id="41" name="Line"/>
          <p:cNvSpPr/>
          <p:nvPr/>
        </p:nvSpPr>
        <p:spPr>
          <a:xfrm>
            <a:off x="1066800" y="6845300"/>
            <a:ext cx="10002141" cy="0"/>
          </a:xfrm>
          <a:prstGeom prst="line">
            <a:avLst/>
          </a:prstGeom>
          <a:ln w="12700">
            <a:solidFill>
              <a:srgbClr val="9A9A9A"/>
            </a:solidFill>
            <a:miter lim="400000"/>
          </a:ln>
        </p:spPr>
        <p:txBody>
          <a:bodyPr lIns="45718" tIns="45718" rIns="45718" bIns="45718"/>
          <a:lstStyle/>
          <a:p>
            <a:pPr/>
          </a:p>
        </p:txBody>
      </p:sp>
      <p:sp>
        <p:nvSpPr>
          <p:cNvPr id="42" name="partial view looking up at the Colosseum under a blue sky"/>
          <p:cNvSpPr/>
          <p:nvPr>
            <p:ph type="pic" idx="21"/>
          </p:nvPr>
        </p:nvSpPr>
        <p:spPr>
          <a:xfrm>
            <a:off x="9867900" y="-12700"/>
            <a:ext cx="20929600" cy="13982700"/>
          </a:xfrm>
          <a:prstGeom prst="rect">
            <a:avLst/>
          </a:prstGeom>
        </p:spPr>
        <p:txBody>
          <a:bodyPr lIns="91439" tIns="45719" rIns="91439" bIns="45719">
            <a:noAutofit/>
          </a:bodyPr>
          <a:lstStyle/>
          <a:p>
            <a:pPr/>
          </a:p>
        </p:txBody>
      </p:sp>
      <p:sp>
        <p:nvSpPr>
          <p:cNvPr id="43" name="Title Text"/>
          <p:cNvSpPr txBox="1"/>
          <p:nvPr>
            <p:ph type="title"/>
          </p:nvPr>
        </p:nvSpPr>
        <p:spPr>
          <a:xfrm>
            <a:off x="1066800" y="2019300"/>
            <a:ext cx="10007600" cy="4470400"/>
          </a:xfrm>
          <a:prstGeom prst="rect">
            <a:avLst/>
          </a:prstGeom>
        </p:spPr>
        <p:txBody>
          <a:bodyPr/>
          <a:lstStyle/>
          <a:p>
            <a:pPr/>
            <a:r>
              <a:t>Title Text</a:t>
            </a:r>
          </a:p>
        </p:txBody>
      </p:sp>
      <p:sp>
        <p:nvSpPr>
          <p:cNvPr id="44" name="Body Level One…"/>
          <p:cNvSpPr txBox="1"/>
          <p:nvPr>
            <p:ph type="body" sz="quarter" idx="1"/>
          </p:nvPr>
        </p:nvSpPr>
        <p:spPr>
          <a:xfrm>
            <a:off x="1066800" y="7213600"/>
            <a:ext cx="10007600" cy="4470400"/>
          </a:xfrm>
          <a:prstGeom prst="rect">
            <a:avLst/>
          </a:prstGeom>
        </p:spPr>
        <p:txBody>
          <a:bodyPr/>
          <a:lstStyle>
            <a:lvl1pPr marL="0" indent="0">
              <a:spcBef>
                <a:spcPts val="0"/>
              </a:spcBef>
              <a:buSzTx/>
              <a:buFontTx/>
              <a:buNone/>
              <a:defRPr sz="3600">
                <a:latin typeface="+mn-lt"/>
                <a:ea typeface="+mn-ea"/>
                <a:cs typeface="+mn-cs"/>
                <a:sym typeface="Helvetica Neue"/>
              </a:defRPr>
            </a:lvl1pPr>
            <a:lvl2pPr marL="0" indent="0">
              <a:spcBef>
                <a:spcPts val="0"/>
              </a:spcBef>
              <a:buSzTx/>
              <a:buFontTx/>
              <a:buNone/>
              <a:defRPr sz="3600">
                <a:latin typeface="+mn-lt"/>
                <a:ea typeface="+mn-ea"/>
                <a:cs typeface="+mn-cs"/>
                <a:sym typeface="Helvetica Neue"/>
              </a:defRPr>
            </a:lvl2pPr>
            <a:lvl3pPr marL="0" indent="0">
              <a:spcBef>
                <a:spcPts val="0"/>
              </a:spcBef>
              <a:buSzTx/>
              <a:buFontTx/>
              <a:buNone/>
              <a:defRPr sz="3600">
                <a:latin typeface="+mn-lt"/>
                <a:ea typeface="+mn-ea"/>
                <a:cs typeface="+mn-cs"/>
                <a:sym typeface="Helvetica Neue"/>
              </a:defRPr>
            </a:lvl3pPr>
            <a:lvl4pPr marL="0" indent="0">
              <a:spcBef>
                <a:spcPts val="0"/>
              </a:spcBef>
              <a:buSzTx/>
              <a:buFontTx/>
              <a:buNone/>
              <a:defRPr sz="3600">
                <a:latin typeface="+mn-lt"/>
                <a:ea typeface="+mn-ea"/>
                <a:cs typeface="+mn-cs"/>
                <a:sym typeface="Helvetica Neue"/>
              </a:defRPr>
            </a:lvl4pPr>
            <a:lvl5pPr marL="0" indent="0">
              <a:spcBef>
                <a:spcPts val="0"/>
              </a:spcBef>
              <a:buSzTx/>
              <a:buFontTx/>
              <a:buNone/>
              <a:defRPr sz="36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xfrm>
            <a:off x="952500" y="12985801"/>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52" name="Title Text"/>
          <p:cNvSpPr txBox="1"/>
          <p:nvPr>
            <p:ph type="title"/>
          </p:nvPr>
        </p:nvSpPr>
        <p:spPr>
          <a:prstGeom prst="rect">
            <a:avLst/>
          </a:prstGeom>
        </p:spPr>
        <p:txBody>
          <a:bodyPr/>
          <a:lstStyle/>
          <a:p>
            <a:pPr/>
            <a:r>
              <a:t>Title Text</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60" name="Title Text"/>
          <p:cNvSpPr txBox="1"/>
          <p:nvPr>
            <p:ph type="title"/>
          </p:nvPr>
        </p:nvSpPr>
        <p:spPr>
          <a:prstGeom prst="rect">
            <a:avLst/>
          </a:prstGeom>
        </p:spPr>
        <p:txBody>
          <a:bodyPr/>
          <a:lstStyle/>
          <a:p>
            <a:pPr/>
            <a:r>
              <a:t>Title Text</a:t>
            </a:r>
          </a:p>
        </p:txBody>
      </p:sp>
      <p:sp>
        <p:nvSpPr>
          <p:cNvPr id="6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Bullets &amp; Photo">
    <p:spTree>
      <p:nvGrpSpPr>
        <p:cNvPr id="1" name=""/>
        <p:cNvGrpSpPr/>
        <p:nvPr/>
      </p:nvGrpSpPr>
      <p:grpSpPr>
        <a:xfrm>
          <a:off x="0" y="0"/>
          <a:ext cx="0" cy="0"/>
          <a:chOff x="0" y="0"/>
          <a:chExt cx="0" cy="0"/>
        </a:xfrm>
      </p:grpSpPr>
      <p:sp>
        <p:nvSpPr>
          <p:cNvPr id="69" name="Line"/>
          <p:cNvSpPr/>
          <p:nvPr/>
        </p:nvSpPr>
        <p:spPr>
          <a:xfrm>
            <a:off x="1066799" y="2768599"/>
            <a:ext cx="9512613" cy="188"/>
          </a:xfrm>
          <a:prstGeom prst="line">
            <a:avLst/>
          </a:prstGeom>
          <a:ln w="12700">
            <a:solidFill>
              <a:srgbClr val="9A9A9A"/>
            </a:solidFill>
            <a:miter lim="400000"/>
          </a:ln>
        </p:spPr>
        <p:txBody>
          <a:bodyPr lIns="45718" tIns="45718" rIns="45718" bIns="45718"/>
          <a:lstStyle/>
          <a:p>
            <a:pPr/>
          </a:p>
        </p:txBody>
      </p:sp>
      <p:sp>
        <p:nvSpPr>
          <p:cNvPr id="70" name="row of blue gondolas with Venice in the background"/>
          <p:cNvSpPr/>
          <p:nvPr>
            <p:ph type="pic" idx="21"/>
          </p:nvPr>
        </p:nvSpPr>
        <p:spPr>
          <a:xfrm>
            <a:off x="12052300" y="-1016000"/>
            <a:ext cx="12788900" cy="19037300"/>
          </a:xfrm>
          <a:prstGeom prst="rect">
            <a:avLst/>
          </a:prstGeom>
        </p:spPr>
        <p:txBody>
          <a:bodyPr lIns="91439" tIns="45719" rIns="91439" bIns="45719">
            <a:noAutofit/>
          </a:bodyPr>
          <a:lstStyle/>
          <a:p>
            <a:pPr/>
          </a:p>
        </p:txBody>
      </p:sp>
      <p:sp>
        <p:nvSpPr>
          <p:cNvPr id="71" name="Title Text"/>
          <p:cNvSpPr txBox="1"/>
          <p:nvPr>
            <p:ph type="title"/>
          </p:nvPr>
        </p:nvSpPr>
        <p:spPr>
          <a:xfrm>
            <a:off x="1066800" y="469900"/>
            <a:ext cx="9525000" cy="1968500"/>
          </a:xfrm>
          <a:prstGeom prst="rect">
            <a:avLst/>
          </a:prstGeom>
        </p:spPr>
        <p:txBody>
          <a:bodyPr/>
          <a:lstStyle/>
          <a:p>
            <a:pPr/>
            <a:r>
              <a:t>Title Text</a:t>
            </a:r>
          </a:p>
        </p:txBody>
      </p:sp>
      <p:sp>
        <p:nvSpPr>
          <p:cNvPr id="72" name="Body Level One…"/>
          <p:cNvSpPr txBox="1"/>
          <p:nvPr>
            <p:ph type="body" sz="half" idx="1"/>
          </p:nvPr>
        </p:nvSpPr>
        <p:spPr>
          <a:xfrm>
            <a:off x="1066800" y="3124200"/>
            <a:ext cx="9525000" cy="9372600"/>
          </a:xfrm>
          <a:prstGeom prst="rect">
            <a:avLst/>
          </a:prstGeom>
        </p:spPr>
        <p:txBody>
          <a:bodyPr/>
          <a:lstStyle>
            <a:lvl1pPr marL="457200" indent="-457200">
              <a:spcBef>
                <a:spcPts val="4200"/>
              </a:spcBef>
              <a:buFontTx/>
              <a:defRPr sz="3600">
                <a:latin typeface="+mn-lt"/>
                <a:ea typeface="+mn-ea"/>
                <a:cs typeface="+mn-cs"/>
                <a:sym typeface="Helvetica Neue"/>
              </a:defRPr>
            </a:lvl1pPr>
            <a:lvl2pPr marL="914400" indent="-457200">
              <a:spcBef>
                <a:spcPts val="4200"/>
              </a:spcBef>
              <a:buFontTx/>
              <a:defRPr sz="3600">
                <a:latin typeface="+mn-lt"/>
                <a:ea typeface="+mn-ea"/>
                <a:cs typeface="+mn-cs"/>
                <a:sym typeface="Helvetica Neue"/>
              </a:defRPr>
            </a:lvl2pPr>
            <a:lvl3pPr marL="1371600" indent="-457200">
              <a:spcBef>
                <a:spcPts val="4200"/>
              </a:spcBef>
              <a:buFontTx/>
              <a:defRPr sz="3600">
                <a:latin typeface="+mn-lt"/>
                <a:ea typeface="+mn-ea"/>
                <a:cs typeface="+mn-cs"/>
                <a:sym typeface="Helvetica Neue"/>
              </a:defRPr>
            </a:lvl3pPr>
            <a:lvl4pPr marL="1828800" indent="-457200">
              <a:spcBef>
                <a:spcPts val="4200"/>
              </a:spcBef>
              <a:buFontTx/>
              <a:defRPr sz="3600">
                <a:latin typeface="+mn-lt"/>
                <a:ea typeface="+mn-ea"/>
                <a:cs typeface="+mn-cs"/>
                <a:sym typeface="Helvetica Neue"/>
              </a:defRPr>
            </a:lvl4pPr>
            <a:lvl5pPr marL="2286000" indent="-457200">
              <a:spcBef>
                <a:spcPts val="4200"/>
              </a:spcBef>
              <a:buFontTx/>
              <a:defRPr sz="36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73" name="Slide Number"/>
          <p:cNvSpPr txBox="1"/>
          <p:nvPr>
            <p:ph type="sldNum" sz="quarter" idx="2"/>
          </p:nvPr>
        </p:nvSpPr>
        <p:spPr>
          <a:xfrm>
            <a:off x="957643" y="12985801"/>
            <a:ext cx="368504" cy="374600"/>
          </a:xfrm>
          <a:prstGeom prst="rect">
            <a:avLst/>
          </a:prstGeom>
        </p:spPr>
        <p:txBody>
          <a:bodyPr/>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Bullets &amp; Live Video Small">
    <p:spTree>
      <p:nvGrpSpPr>
        <p:cNvPr id="1" name=""/>
        <p:cNvGrpSpPr/>
        <p:nvPr/>
      </p:nvGrpSpPr>
      <p:grpSpPr>
        <a:xfrm>
          <a:off x="0" y="0"/>
          <a:ext cx="0" cy="0"/>
          <a:chOff x="0" y="0"/>
          <a:chExt cx="0" cy="0"/>
        </a:xfrm>
      </p:grpSpPr>
      <p:sp>
        <p:nvSpPr>
          <p:cNvPr id="80" name="Line"/>
          <p:cNvSpPr/>
          <p:nvPr/>
        </p:nvSpPr>
        <p:spPr>
          <a:xfrm>
            <a:off x="1066798" y="2768600"/>
            <a:ext cx="22250403" cy="1"/>
          </a:xfrm>
          <a:prstGeom prst="line">
            <a:avLst/>
          </a:prstGeom>
          <a:ln w="12700">
            <a:solidFill>
              <a:srgbClr val="9A9A9A"/>
            </a:solidFill>
            <a:miter lim="400000"/>
          </a:ln>
        </p:spPr>
        <p:txBody>
          <a:bodyPr lIns="45718" tIns="45718" rIns="45718" bIns="45718"/>
          <a:lstStyle/>
          <a:p>
            <a:pPr/>
          </a:p>
        </p:txBody>
      </p:sp>
      <p:sp>
        <p:nvSpPr>
          <p:cNvPr id="81" name="Title Text"/>
          <p:cNvSpPr txBox="1"/>
          <p:nvPr>
            <p:ph type="title"/>
          </p:nvPr>
        </p:nvSpPr>
        <p:spPr>
          <a:xfrm>
            <a:off x="1066800" y="469900"/>
            <a:ext cx="9525000" cy="1968500"/>
          </a:xfrm>
          <a:prstGeom prst="rect">
            <a:avLst/>
          </a:prstGeom>
        </p:spPr>
        <p:txBody>
          <a:bodyPr/>
          <a:lstStyle/>
          <a:p>
            <a:pPr/>
            <a:r>
              <a:t>Title Text</a:t>
            </a:r>
          </a:p>
        </p:txBody>
      </p:sp>
      <p:sp>
        <p:nvSpPr>
          <p:cNvPr id="82" name="Body Level One…"/>
          <p:cNvSpPr txBox="1"/>
          <p:nvPr>
            <p:ph type="body" sz="half" idx="1"/>
          </p:nvPr>
        </p:nvSpPr>
        <p:spPr>
          <a:xfrm>
            <a:off x="1066800" y="3124200"/>
            <a:ext cx="9525000" cy="9372600"/>
          </a:xfrm>
          <a:prstGeom prst="rect">
            <a:avLst/>
          </a:prstGeom>
        </p:spPr>
        <p:txBody>
          <a:bodyPr/>
          <a:lstStyle>
            <a:lvl1pPr marL="457200" indent="-457200">
              <a:spcBef>
                <a:spcPts val="4200"/>
              </a:spcBef>
              <a:buFontTx/>
              <a:defRPr sz="3600">
                <a:latin typeface="+mn-lt"/>
                <a:ea typeface="+mn-ea"/>
                <a:cs typeface="+mn-cs"/>
                <a:sym typeface="Helvetica Neue"/>
              </a:defRPr>
            </a:lvl1pPr>
            <a:lvl2pPr marL="914400" indent="-457200">
              <a:spcBef>
                <a:spcPts val="4200"/>
              </a:spcBef>
              <a:buFontTx/>
              <a:defRPr sz="3600">
                <a:latin typeface="+mn-lt"/>
                <a:ea typeface="+mn-ea"/>
                <a:cs typeface="+mn-cs"/>
                <a:sym typeface="Helvetica Neue"/>
              </a:defRPr>
            </a:lvl2pPr>
            <a:lvl3pPr marL="1371600" indent="-457200">
              <a:spcBef>
                <a:spcPts val="4200"/>
              </a:spcBef>
              <a:buFontTx/>
              <a:defRPr sz="3600">
                <a:latin typeface="+mn-lt"/>
                <a:ea typeface="+mn-ea"/>
                <a:cs typeface="+mn-cs"/>
                <a:sym typeface="Helvetica Neue"/>
              </a:defRPr>
            </a:lvl3pPr>
            <a:lvl4pPr marL="1828800" indent="-457200">
              <a:spcBef>
                <a:spcPts val="4200"/>
              </a:spcBef>
              <a:buFontTx/>
              <a:defRPr sz="3600">
                <a:latin typeface="+mn-lt"/>
                <a:ea typeface="+mn-ea"/>
                <a:cs typeface="+mn-cs"/>
                <a:sym typeface="Helvetica Neue"/>
              </a:defRPr>
            </a:lvl4pPr>
            <a:lvl5pPr marL="2286000" indent="-457200">
              <a:spcBef>
                <a:spcPts val="4200"/>
              </a:spcBef>
              <a:buFontTx/>
              <a:defRPr sz="36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83" name="Slide Number"/>
          <p:cNvSpPr txBox="1"/>
          <p:nvPr>
            <p:ph type="sldNum" sz="quarter" idx="2"/>
          </p:nvPr>
        </p:nvSpPr>
        <p:spPr>
          <a:xfrm>
            <a:off x="957643" y="12985801"/>
            <a:ext cx="368504" cy="374600"/>
          </a:xfrm>
          <a:prstGeom prst="rect">
            <a:avLst/>
          </a:prstGeom>
        </p:spPr>
        <p:txBody>
          <a:bodyPr/>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Bullets &amp; Live Video Large">
    <p:spTree>
      <p:nvGrpSpPr>
        <p:cNvPr id="1" name=""/>
        <p:cNvGrpSpPr/>
        <p:nvPr/>
      </p:nvGrpSpPr>
      <p:grpSpPr>
        <a:xfrm>
          <a:off x="0" y="0"/>
          <a:ext cx="0" cy="0"/>
          <a:chOff x="0" y="0"/>
          <a:chExt cx="0" cy="0"/>
        </a:xfrm>
      </p:grpSpPr>
      <p:sp>
        <p:nvSpPr>
          <p:cNvPr id="90" name="Line"/>
          <p:cNvSpPr/>
          <p:nvPr/>
        </p:nvSpPr>
        <p:spPr>
          <a:xfrm>
            <a:off x="1066799" y="2768599"/>
            <a:ext cx="9512613" cy="188"/>
          </a:xfrm>
          <a:prstGeom prst="line">
            <a:avLst/>
          </a:prstGeom>
          <a:ln w="12700">
            <a:solidFill>
              <a:srgbClr val="9A9A9A"/>
            </a:solidFill>
            <a:miter lim="400000"/>
          </a:ln>
        </p:spPr>
        <p:txBody>
          <a:bodyPr lIns="45718" tIns="45718" rIns="45718" bIns="45718"/>
          <a:lstStyle/>
          <a:p>
            <a:pPr/>
          </a:p>
        </p:txBody>
      </p:sp>
      <p:sp>
        <p:nvSpPr>
          <p:cNvPr id="91" name="Title Text"/>
          <p:cNvSpPr txBox="1"/>
          <p:nvPr>
            <p:ph type="title"/>
          </p:nvPr>
        </p:nvSpPr>
        <p:spPr>
          <a:xfrm>
            <a:off x="1066800" y="469900"/>
            <a:ext cx="9525000" cy="1968500"/>
          </a:xfrm>
          <a:prstGeom prst="rect">
            <a:avLst/>
          </a:prstGeom>
        </p:spPr>
        <p:txBody>
          <a:bodyPr/>
          <a:lstStyle/>
          <a:p>
            <a:pPr/>
            <a:r>
              <a:t>Title Text</a:t>
            </a:r>
          </a:p>
        </p:txBody>
      </p:sp>
      <p:sp>
        <p:nvSpPr>
          <p:cNvPr id="92" name="Body Level One…"/>
          <p:cNvSpPr txBox="1"/>
          <p:nvPr>
            <p:ph type="body" sz="half" idx="1"/>
          </p:nvPr>
        </p:nvSpPr>
        <p:spPr>
          <a:xfrm>
            <a:off x="1066800" y="3124200"/>
            <a:ext cx="9525000" cy="9372600"/>
          </a:xfrm>
          <a:prstGeom prst="rect">
            <a:avLst/>
          </a:prstGeom>
        </p:spPr>
        <p:txBody>
          <a:bodyPr/>
          <a:lstStyle>
            <a:lvl1pPr marL="457200" indent="-457200">
              <a:spcBef>
                <a:spcPts val="4200"/>
              </a:spcBef>
              <a:buFontTx/>
              <a:defRPr sz="3600">
                <a:latin typeface="+mn-lt"/>
                <a:ea typeface="+mn-ea"/>
                <a:cs typeface="+mn-cs"/>
                <a:sym typeface="Helvetica Neue"/>
              </a:defRPr>
            </a:lvl1pPr>
            <a:lvl2pPr marL="914400" indent="-457200">
              <a:spcBef>
                <a:spcPts val="4200"/>
              </a:spcBef>
              <a:buFontTx/>
              <a:defRPr sz="3600">
                <a:latin typeface="+mn-lt"/>
                <a:ea typeface="+mn-ea"/>
                <a:cs typeface="+mn-cs"/>
                <a:sym typeface="Helvetica Neue"/>
              </a:defRPr>
            </a:lvl2pPr>
            <a:lvl3pPr marL="1371600" indent="-457200">
              <a:spcBef>
                <a:spcPts val="4200"/>
              </a:spcBef>
              <a:buFontTx/>
              <a:defRPr sz="3600">
                <a:latin typeface="+mn-lt"/>
                <a:ea typeface="+mn-ea"/>
                <a:cs typeface="+mn-cs"/>
                <a:sym typeface="Helvetica Neue"/>
              </a:defRPr>
            </a:lvl3pPr>
            <a:lvl4pPr marL="1828800" indent="-457200">
              <a:spcBef>
                <a:spcPts val="4200"/>
              </a:spcBef>
              <a:buFontTx/>
              <a:defRPr sz="3600">
                <a:latin typeface="+mn-lt"/>
                <a:ea typeface="+mn-ea"/>
                <a:cs typeface="+mn-cs"/>
                <a:sym typeface="Helvetica Neue"/>
              </a:defRPr>
            </a:lvl4pPr>
            <a:lvl5pPr marL="2286000" indent="-457200">
              <a:spcBef>
                <a:spcPts val="4200"/>
              </a:spcBef>
              <a:buFontTx/>
              <a:defRPr sz="36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xfrm>
            <a:off x="957643" y="12985801"/>
            <a:ext cx="368504" cy="374600"/>
          </a:xfrm>
          <a:prstGeom prst="rect">
            <a:avLst/>
          </a:prstGeom>
        </p:spPr>
        <p:txBody>
          <a:bodyPr/>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ullets">
    <p:spTree>
      <p:nvGrpSpPr>
        <p:cNvPr id="1" name=""/>
        <p:cNvGrpSpPr/>
        <p:nvPr/>
      </p:nvGrpSpPr>
      <p:grpSpPr>
        <a:xfrm>
          <a:off x="0" y="0"/>
          <a:ext cx="0" cy="0"/>
          <a:chOff x="0" y="0"/>
          <a:chExt cx="0" cy="0"/>
        </a:xfrm>
      </p:grpSpPr>
      <p:sp>
        <p:nvSpPr>
          <p:cNvPr id="100" name="Body Level One…"/>
          <p:cNvSpPr txBox="1"/>
          <p:nvPr>
            <p:ph type="body" idx="1"/>
          </p:nvPr>
        </p:nvSpPr>
        <p:spPr>
          <a:xfrm>
            <a:off x="1663700" y="1244600"/>
            <a:ext cx="21031200" cy="112014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 3 Up">
    <p:spTree>
      <p:nvGrpSpPr>
        <p:cNvPr id="1" name=""/>
        <p:cNvGrpSpPr/>
        <p:nvPr/>
      </p:nvGrpSpPr>
      <p:grpSpPr>
        <a:xfrm>
          <a:off x="0" y="0"/>
          <a:ext cx="0" cy="0"/>
          <a:chOff x="0" y="0"/>
          <a:chExt cx="0" cy="0"/>
        </a:xfrm>
      </p:grpSpPr>
      <p:sp>
        <p:nvSpPr>
          <p:cNvPr id="108" name="Line"/>
          <p:cNvSpPr/>
          <p:nvPr/>
        </p:nvSpPr>
        <p:spPr>
          <a:xfrm flipH="1">
            <a:off x="15811738" y="711200"/>
            <a:ext cx="2" cy="11143607"/>
          </a:xfrm>
          <a:prstGeom prst="line">
            <a:avLst/>
          </a:prstGeom>
          <a:ln w="12700">
            <a:solidFill>
              <a:srgbClr val="9A9A9A"/>
            </a:solidFill>
            <a:miter lim="400000"/>
          </a:ln>
        </p:spPr>
        <p:txBody>
          <a:bodyPr lIns="45718" tIns="45718" rIns="45718" bIns="45718"/>
          <a:lstStyle/>
          <a:p>
            <a:pPr/>
          </a:p>
        </p:txBody>
      </p:sp>
      <p:sp>
        <p:nvSpPr>
          <p:cNvPr id="109" name="Line"/>
          <p:cNvSpPr/>
          <p:nvPr/>
        </p:nvSpPr>
        <p:spPr>
          <a:xfrm>
            <a:off x="15811499" y="6277569"/>
            <a:ext cx="7763087" cy="2"/>
          </a:xfrm>
          <a:prstGeom prst="line">
            <a:avLst/>
          </a:prstGeom>
          <a:ln w="12700">
            <a:solidFill>
              <a:srgbClr val="9A9A9A"/>
            </a:solidFill>
            <a:miter lim="400000"/>
          </a:ln>
        </p:spPr>
        <p:txBody>
          <a:bodyPr lIns="45718" tIns="45718" rIns="45718" bIns="45718"/>
          <a:lstStyle/>
          <a:p>
            <a:pPr/>
          </a:p>
        </p:txBody>
      </p:sp>
      <p:sp>
        <p:nvSpPr>
          <p:cNvPr id="110" name="bridge over river with city buildings in the background"/>
          <p:cNvSpPr/>
          <p:nvPr>
            <p:ph type="pic" sz="quarter" idx="21"/>
          </p:nvPr>
        </p:nvSpPr>
        <p:spPr>
          <a:xfrm>
            <a:off x="15930593" y="6423033"/>
            <a:ext cx="9151186" cy="6108703"/>
          </a:xfrm>
          <a:prstGeom prst="rect">
            <a:avLst/>
          </a:prstGeom>
        </p:spPr>
        <p:txBody>
          <a:bodyPr lIns="91439" tIns="45719" rIns="91439" bIns="45719">
            <a:noAutofit/>
          </a:bodyPr>
          <a:lstStyle/>
          <a:p>
            <a:pPr/>
          </a:p>
        </p:txBody>
      </p:sp>
      <p:sp>
        <p:nvSpPr>
          <p:cNvPr id="111" name="row of blue gondolas with Venice in the background"/>
          <p:cNvSpPr/>
          <p:nvPr>
            <p:ph type="pic" sz="half" idx="22"/>
          </p:nvPr>
        </p:nvSpPr>
        <p:spPr>
          <a:xfrm>
            <a:off x="15900400" y="-152400"/>
            <a:ext cx="7785100" cy="11595101"/>
          </a:xfrm>
          <a:prstGeom prst="rect">
            <a:avLst/>
          </a:prstGeom>
        </p:spPr>
        <p:txBody>
          <a:bodyPr lIns="91439" tIns="45719" rIns="91439" bIns="45719">
            <a:noAutofit/>
          </a:bodyPr>
          <a:lstStyle/>
          <a:p>
            <a:pPr/>
          </a:p>
        </p:txBody>
      </p:sp>
      <p:sp>
        <p:nvSpPr>
          <p:cNvPr id="112" name="aerial view of an old city in Italy"/>
          <p:cNvSpPr/>
          <p:nvPr>
            <p:ph type="pic" idx="23"/>
          </p:nvPr>
        </p:nvSpPr>
        <p:spPr>
          <a:xfrm>
            <a:off x="622300" y="711200"/>
            <a:ext cx="15544800" cy="11328400"/>
          </a:xfrm>
          <a:prstGeom prst="rect">
            <a:avLst/>
          </a:prstGeom>
        </p:spPr>
        <p:txBody>
          <a:bodyPr lIns="91439" tIns="45719" rIns="91439" bIns="45719">
            <a:noAutofit/>
          </a:bodyPr>
          <a:lstStyle/>
          <a:p>
            <a:pPr/>
          </a:p>
        </p:txBody>
      </p:sp>
      <p:sp>
        <p:nvSpPr>
          <p:cNvPr id="113" name="Body Level One…"/>
          <p:cNvSpPr txBox="1"/>
          <p:nvPr>
            <p:ph type="body" sz="quarter" idx="1"/>
          </p:nvPr>
        </p:nvSpPr>
        <p:spPr>
          <a:xfrm>
            <a:off x="977900" y="12179300"/>
            <a:ext cx="14579600" cy="1320800"/>
          </a:xfrm>
          <a:prstGeom prst="rect">
            <a:avLst/>
          </a:prstGeom>
        </p:spPr>
        <p:txBody>
          <a:bodyPr/>
          <a:lstStyle>
            <a:lvl1pPr marL="0" indent="0">
              <a:spcBef>
                <a:spcPts val="0"/>
              </a:spcBef>
              <a:buSzTx/>
              <a:buFontTx/>
              <a:buNone/>
              <a:defRPr sz="3600">
                <a:latin typeface="+mn-lt"/>
                <a:ea typeface="+mn-ea"/>
                <a:cs typeface="+mn-cs"/>
                <a:sym typeface="Helvetica Neue"/>
              </a:defRPr>
            </a:lvl1pPr>
            <a:lvl2pPr marL="0" indent="0">
              <a:spcBef>
                <a:spcPts val="0"/>
              </a:spcBef>
              <a:buSzTx/>
              <a:buFontTx/>
              <a:buNone/>
              <a:defRPr sz="3600">
                <a:latin typeface="+mn-lt"/>
                <a:ea typeface="+mn-ea"/>
                <a:cs typeface="+mn-cs"/>
                <a:sym typeface="Helvetica Neue"/>
              </a:defRPr>
            </a:lvl2pPr>
            <a:lvl3pPr marL="0" indent="0">
              <a:spcBef>
                <a:spcPts val="0"/>
              </a:spcBef>
              <a:buSzTx/>
              <a:buFontTx/>
              <a:buNone/>
              <a:defRPr sz="3600">
                <a:latin typeface="+mn-lt"/>
                <a:ea typeface="+mn-ea"/>
                <a:cs typeface="+mn-cs"/>
                <a:sym typeface="Helvetica Neue"/>
              </a:defRPr>
            </a:lvl3pPr>
            <a:lvl4pPr marL="0" indent="0">
              <a:spcBef>
                <a:spcPts val="0"/>
              </a:spcBef>
              <a:buSzTx/>
              <a:buFontTx/>
              <a:buNone/>
              <a:defRPr sz="3600">
                <a:latin typeface="+mn-lt"/>
                <a:ea typeface="+mn-ea"/>
                <a:cs typeface="+mn-cs"/>
                <a:sym typeface="Helvetica Neue"/>
              </a:defRPr>
            </a:lvl4pPr>
            <a:lvl5pPr marL="0" indent="0">
              <a:spcBef>
                <a:spcPts val="0"/>
              </a:spcBef>
              <a:buSzTx/>
              <a:buFontTx/>
              <a:buNone/>
              <a:defRPr sz="36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p:spTree>
      <p:nvGrpSpPr>
        <p:cNvPr id="1" name=""/>
        <p:cNvGrpSpPr/>
        <p:nvPr/>
      </p:nvGrpSpPr>
      <p:grpSpPr>
        <a:xfrm>
          <a:off x="0" y="0"/>
          <a:ext cx="0" cy="0"/>
          <a:chOff x="0" y="0"/>
          <a:chExt cx="0" cy="0"/>
        </a:xfrm>
      </p:grpSpPr>
      <p:sp>
        <p:nvSpPr>
          <p:cNvPr id="121" name="Body Level One…"/>
          <p:cNvSpPr txBox="1"/>
          <p:nvPr>
            <p:ph type="body" sz="quarter" idx="1"/>
          </p:nvPr>
        </p:nvSpPr>
        <p:spPr>
          <a:xfrm>
            <a:off x="2387600" y="8953500"/>
            <a:ext cx="19621500" cy="647700"/>
          </a:xfrm>
          <a:prstGeom prst="rect">
            <a:avLst/>
          </a:prstGeom>
        </p:spPr>
        <p:txBody>
          <a:bodyPr/>
          <a:lstStyle>
            <a:lvl1pPr marL="0" indent="0" algn="ctr" defTabSz="647700">
              <a:spcBef>
                <a:spcPts val="0"/>
              </a:spcBef>
              <a:buSzTx/>
              <a:buFontTx/>
              <a:buNone/>
              <a:defRPr sz="3600">
                <a:solidFill>
                  <a:srgbClr val="000000"/>
                </a:solidFill>
                <a:latin typeface="Helvetica Neue Medium"/>
                <a:ea typeface="Helvetica Neue Medium"/>
                <a:cs typeface="Helvetica Neue Medium"/>
                <a:sym typeface="Helvetica Neue Medium"/>
              </a:defRPr>
            </a:lvl1pPr>
            <a:lvl2pPr marL="1092200" indent="-457200" algn="ctr" defTabSz="647700">
              <a:spcBef>
                <a:spcPts val="0"/>
              </a:spcBef>
              <a:buFontTx/>
              <a:defRPr sz="3600">
                <a:solidFill>
                  <a:srgbClr val="000000"/>
                </a:solidFill>
                <a:latin typeface="Helvetica Neue Medium"/>
                <a:ea typeface="Helvetica Neue Medium"/>
                <a:cs typeface="Helvetica Neue Medium"/>
                <a:sym typeface="Helvetica Neue Medium"/>
              </a:defRPr>
            </a:lvl2pPr>
            <a:lvl3pPr marL="1727200" indent="-457200" algn="ctr" defTabSz="647700">
              <a:spcBef>
                <a:spcPts val="0"/>
              </a:spcBef>
              <a:buFontTx/>
              <a:defRPr sz="3600">
                <a:solidFill>
                  <a:srgbClr val="000000"/>
                </a:solidFill>
                <a:latin typeface="Helvetica Neue Medium"/>
                <a:ea typeface="Helvetica Neue Medium"/>
                <a:cs typeface="Helvetica Neue Medium"/>
                <a:sym typeface="Helvetica Neue Medium"/>
              </a:defRPr>
            </a:lvl3pPr>
            <a:lvl4pPr marL="2362200" indent="-457200" algn="ctr" defTabSz="647700">
              <a:spcBef>
                <a:spcPts val="0"/>
              </a:spcBef>
              <a:buFontTx/>
              <a:defRPr sz="3600">
                <a:solidFill>
                  <a:srgbClr val="000000"/>
                </a:solidFill>
                <a:latin typeface="Helvetica Neue Medium"/>
                <a:ea typeface="Helvetica Neue Medium"/>
                <a:cs typeface="Helvetica Neue Medium"/>
                <a:sym typeface="Helvetica Neue Medium"/>
              </a:defRPr>
            </a:lvl4pPr>
            <a:lvl5pPr marL="2997200" indent="-457200" algn="ctr" defTabSz="647700">
              <a:spcBef>
                <a:spcPts val="0"/>
              </a:spcBef>
              <a:buFontTx/>
              <a:defRPr sz="3600">
                <a:solidFill>
                  <a:srgbClr val="000000"/>
                </a:solidFill>
                <a:latin typeface="Helvetica Neue Medium"/>
                <a:ea typeface="Helvetica Neue Medium"/>
                <a:cs typeface="Helvetica Neue Medium"/>
                <a:sym typeface="Helvetica Neue Medium"/>
              </a:defRPr>
            </a:lvl5pPr>
          </a:lstStyle>
          <a:p>
            <a:pPr/>
            <a:r>
              <a:t>Body Level One</a:t>
            </a:r>
          </a:p>
          <a:p>
            <a:pPr lvl="1"/>
            <a:r>
              <a:t>Body Level Two</a:t>
            </a:r>
          </a:p>
          <a:p>
            <a:pPr lvl="2"/>
            <a:r>
              <a:t>Body Level Three</a:t>
            </a:r>
          </a:p>
          <a:p>
            <a:pPr lvl="3"/>
            <a:r>
              <a:t>Body Level Four</a:t>
            </a:r>
          </a:p>
          <a:p>
            <a:pPr lvl="4"/>
            <a:r>
              <a:t>Body Level Five</a:t>
            </a:r>
          </a:p>
        </p:txBody>
      </p:sp>
      <p:sp>
        <p:nvSpPr>
          <p:cNvPr id="122" name="“Type a quote here.”"/>
          <p:cNvSpPr txBox="1"/>
          <p:nvPr>
            <p:ph type="body" sz="quarter" idx="21"/>
          </p:nvPr>
        </p:nvSpPr>
        <p:spPr>
          <a:xfrm>
            <a:off x="2387600" y="6061864"/>
            <a:ext cx="19621500" cy="944573"/>
          </a:xfrm>
          <a:prstGeom prst="rect">
            <a:avLst/>
          </a:prstGeom>
        </p:spPr>
        <p:txBody>
          <a:bodyPr anchor="ctr"/>
          <a:lstStyle/>
          <a:p>
            <a:pPr marL="0" indent="0" algn="ctr" defTabSz="647700">
              <a:spcBef>
                <a:spcPts val="3400"/>
              </a:spcBef>
              <a:buSzTx/>
              <a:buFontTx/>
              <a:buNone/>
              <a:defRPr sz="5600"/>
            </a:pPr>
          </a:p>
        </p:txBody>
      </p:sp>
      <p:sp>
        <p:nvSpPr>
          <p:cNvPr id="1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p:spTree>
      <p:nvGrpSpPr>
        <p:cNvPr id="1" name=""/>
        <p:cNvGrpSpPr/>
        <p:nvPr/>
      </p:nvGrpSpPr>
      <p:grpSpPr>
        <a:xfrm>
          <a:off x="0" y="0"/>
          <a:ext cx="0" cy="0"/>
          <a:chOff x="0" y="0"/>
          <a:chExt cx="0" cy="0"/>
        </a:xfrm>
      </p:grpSpPr>
      <p:sp>
        <p:nvSpPr>
          <p:cNvPr id="130" name="aerial view of an old city in Italy"/>
          <p:cNvSpPr/>
          <p:nvPr>
            <p:ph type="pic" idx="21"/>
          </p:nvPr>
        </p:nvSpPr>
        <p:spPr>
          <a:xfrm>
            <a:off x="-12700" y="-25400"/>
            <a:ext cx="24384000" cy="17774328"/>
          </a:xfrm>
          <a:prstGeom prst="rect">
            <a:avLst/>
          </a:prstGeom>
        </p:spPr>
        <p:txBody>
          <a:bodyPr lIns="91439" tIns="45719" rIns="91439" bIns="45719">
            <a:noAutofit/>
          </a:bodyPr>
          <a:lstStyle/>
          <a:p>
            <a:pPr/>
          </a:p>
        </p:txBody>
      </p:sp>
      <p:sp>
        <p:nvSpPr>
          <p:cNvPr id="1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1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Line"/>
          <p:cNvSpPr/>
          <p:nvPr/>
        </p:nvSpPr>
        <p:spPr>
          <a:xfrm>
            <a:off x="1066799" y="2768600"/>
            <a:ext cx="22252699" cy="183"/>
          </a:xfrm>
          <a:prstGeom prst="line">
            <a:avLst/>
          </a:prstGeom>
          <a:ln w="12700">
            <a:solidFill>
              <a:srgbClr val="9A9A9A"/>
            </a:solidFill>
            <a:miter lim="400000"/>
          </a:ln>
        </p:spPr>
        <p:txBody>
          <a:bodyPr lIns="45718" tIns="45718" rIns="45718" bIns="45718"/>
          <a:lstStyle/>
          <a:p>
            <a:pPr/>
          </a:p>
        </p:txBody>
      </p:sp>
      <p:sp>
        <p:nvSpPr>
          <p:cNvPr id="3" name="Title Text"/>
          <p:cNvSpPr txBox="1"/>
          <p:nvPr>
            <p:ph type="title"/>
          </p:nvPr>
        </p:nvSpPr>
        <p:spPr>
          <a:xfrm>
            <a:off x="1066800" y="469900"/>
            <a:ext cx="22237700" cy="1968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a:r>
              <a:t>Title Text</a:t>
            </a:r>
          </a:p>
        </p:txBody>
      </p:sp>
      <p:sp>
        <p:nvSpPr>
          <p:cNvPr id="4" name="Body Level One…"/>
          <p:cNvSpPr txBox="1"/>
          <p:nvPr>
            <p:ph type="body" idx="1"/>
          </p:nvPr>
        </p:nvSpPr>
        <p:spPr>
          <a:xfrm>
            <a:off x="1066800" y="3124200"/>
            <a:ext cx="22237700" cy="9372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23216222" y="12985801"/>
            <a:ext cx="368504" cy="374600"/>
          </a:xfrm>
          <a:prstGeom prst="rect">
            <a:avLst/>
          </a:prstGeom>
          <a:ln w="12700">
            <a:miter lim="400000"/>
          </a:ln>
        </p:spPr>
        <p:txBody>
          <a:bodyPr wrap="none" lIns="50800" tIns="50800" rIns="50800" bIns="50800" anchor="b">
            <a:spAutoFit/>
          </a:bodyPr>
          <a:lstStyle>
            <a:lvl1pPr algn="r">
              <a:spcBef>
                <a:spcPts val="0"/>
              </a:spcBef>
              <a:defRPr sz="1800">
                <a:solidFill>
                  <a:srgbClr val="000000"/>
                </a:solidFill>
                <a:latin typeface="+mn-lt"/>
                <a:ea typeface="+mn-ea"/>
                <a:cs typeface="+mn-cs"/>
                <a:sym typeface="Helvetica Neue"/>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1pPr>
      <a:lvl2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2pPr>
      <a:lvl3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3pPr>
      <a:lvl4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4pPr>
      <a:lvl5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5pPr>
      <a:lvl6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6pPr>
      <a:lvl7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7pPr>
      <a:lvl8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8pPr>
      <a:lvl9pPr marL="0" marR="0" indent="0" algn="l" defTabSz="825500"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Helvetica Neue Light"/>
          <a:ea typeface="Helvetica Neue Light"/>
          <a:cs typeface="Helvetica Neue Light"/>
          <a:sym typeface="Helvetica Neue Light"/>
        </a:defRPr>
      </a:lvl9pPr>
    </p:titleStyle>
    <p:bodyStyle>
      <a:lvl1pPr marL="635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1pPr>
      <a:lvl2pPr marL="1270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2pPr>
      <a:lvl3pPr marL="1905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3pPr>
      <a:lvl4pPr marL="2540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4pPr>
      <a:lvl5pPr marL="3175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5pPr>
      <a:lvl6pPr marL="3810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6pPr>
      <a:lvl7pPr marL="4445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7pPr>
      <a:lvl8pPr marL="5080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8pPr>
      <a:lvl9pPr marL="5715000" marR="0" indent="-635000" algn="l" defTabSz="825500" rtl="0" latinLnBrk="0">
        <a:lnSpc>
          <a:spcPct val="100000"/>
        </a:lnSpc>
        <a:spcBef>
          <a:spcPts val="5900"/>
        </a:spcBef>
        <a:spcAft>
          <a:spcPts val="0"/>
        </a:spcAft>
        <a:buClrTx/>
        <a:buSzPct val="75000"/>
        <a:buFont typeface="Helvetica Neue"/>
        <a:buChar char="•"/>
        <a:tabLst/>
        <a:defRPr b="0" baseline="0" cap="none" i="0" spc="0" strike="noStrike" sz="5000" u="none">
          <a:solidFill>
            <a:srgbClr val="747474"/>
          </a:solidFill>
          <a:uFillTx/>
          <a:latin typeface="Helvetica Neue Light"/>
          <a:ea typeface="Helvetica Neue Light"/>
          <a:cs typeface="Helvetica Neue Light"/>
          <a:sym typeface="Helvetica Neue Light"/>
        </a:defRPr>
      </a:lvl9pPr>
    </p:bodyStyle>
    <p:otherStyle>
      <a:lvl1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0" algn="r" defTabSz="8255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Parametrizing DFT-D3 dispersion corrections for metal oxides"/>
          <p:cNvSpPr txBox="1"/>
          <p:nvPr>
            <p:ph type="ctrTitle"/>
          </p:nvPr>
        </p:nvSpPr>
        <p:spPr>
          <a:prstGeom prst="rect">
            <a:avLst/>
          </a:prstGeom>
        </p:spPr>
        <p:txBody>
          <a:bodyPr/>
          <a:lstStyle/>
          <a:p>
            <a:pPr/>
            <a:r>
              <a:t>Parametrizing DFT-D3 dispersion corrections for metal oxides </a:t>
            </a:r>
          </a:p>
        </p:txBody>
      </p:sp>
      <p:sp>
        <p:nvSpPr>
          <p:cNvPr id="148" name="Dara Zenas Zephaniah, 23321010…"/>
          <p:cNvSpPr txBox="1"/>
          <p:nvPr>
            <p:ph type="subTitle" sz="quarter" idx="1"/>
          </p:nvPr>
        </p:nvSpPr>
        <p:spPr>
          <a:prstGeom prst="rect">
            <a:avLst/>
          </a:prstGeom>
        </p:spPr>
        <p:txBody>
          <a:bodyPr/>
          <a:lstStyle/>
          <a:p>
            <a:pPr/>
            <a:r>
              <a:t>Dara Zenas Zephaniah, 23321010</a:t>
            </a:r>
          </a:p>
          <a:p>
            <a:pPr/>
            <a:r>
              <a:t>Department of Chemistry, IIT Roorkee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Methodology"/>
          <p:cNvSpPr txBox="1"/>
          <p:nvPr>
            <p:ph type="title"/>
          </p:nvPr>
        </p:nvSpPr>
        <p:spPr>
          <a:prstGeom prst="rect">
            <a:avLst/>
          </a:prstGeom>
        </p:spPr>
        <p:txBody>
          <a:bodyPr/>
          <a:lstStyle/>
          <a:p>
            <a:pPr/>
            <a:r>
              <a:t>Methodology</a:t>
            </a:r>
          </a:p>
        </p:txBody>
      </p:sp>
      <p:sp>
        <p:nvSpPr>
          <p:cNvPr id="151" name="Extracted and Isolated binary and ternary metal oxide ( ) structures with Materials Project API (pymatgen) queries.…"/>
          <p:cNvSpPr txBox="1"/>
          <p:nvPr>
            <p:ph type="body" idx="1"/>
          </p:nvPr>
        </p:nvSpPr>
        <p:spPr>
          <a:prstGeom prst="rect">
            <a:avLst/>
          </a:prstGeom>
        </p:spPr>
        <p:txBody>
          <a:bodyPr/>
          <a:lstStyle/>
          <a:p>
            <a:pPr/>
            <a:r>
              <a:t>Extracted and Isolated binary and ternary metal oxide (</a:t>
            </a:r>
            <a14:m>
              <m:oMath>
                <m:sSub>
                  <m:e>
                    <m:r>
                      <a:rPr xmlns:a="http://schemas.openxmlformats.org/drawingml/2006/main" sz="6100" i="1">
                        <a:solidFill>
                          <a:srgbClr val="747373"/>
                        </a:solidFill>
                        <a:latin typeface="Cambria Math" panose="02040503050406030204" pitchFamily="18" charset="0"/>
                      </a:rPr>
                      <m:t>M</m:t>
                    </m:r>
                  </m:e>
                  <m:sub>
                    <m:r>
                      <a:rPr xmlns:a="http://schemas.openxmlformats.org/drawingml/2006/main" sz="6100" i="1">
                        <a:solidFill>
                          <a:srgbClr val="747373"/>
                        </a:solidFill>
                        <a:latin typeface="Cambria Math" panose="02040503050406030204" pitchFamily="18" charset="0"/>
                      </a:rPr>
                      <m:t>x</m:t>
                    </m:r>
                  </m:sub>
                </m:sSub>
                <m:sSub>
                  <m:e>
                    <m:r>
                      <a:rPr xmlns:a="http://schemas.openxmlformats.org/drawingml/2006/main" sz="6100" i="1">
                        <a:solidFill>
                          <a:srgbClr val="747373"/>
                        </a:solidFill>
                        <a:latin typeface="Cambria Math" panose="02040503050406030204" pitchFamily="18" charset="0"/>
                      </a:rPr>
                      <m:t>O</m:t>
                    </m:r>
                  </m:e>
                  <m:sub>
                    <m:r>
                      <a:rPr xmlns:a="http://schemas.openxmlformats.org/drawingml/2006/main" sz="6100" i="1">
                        <a:solidFill>
                          <a:srgbClr val="747373"/>
                        </a:solidFill>
                        <a:latin typeface="Cambria Math" panose="02040503050406030204" pitchFamily="18" charset="0"/>
                      </a:rPr>
                      <m:t>y</m:t>
                    </m:r>
                  </m:sub>
                </m:sSub>
              </m:oMath>
            </a14:m>
            <a:r>
              <a:t>) structures with Materials Project API (pymatgen) queries.</a:t>
            </a:r>
          </a:p>
          <a:p>
            <a:pPr/>
            <a:r>
              <a:t>Executed strain.sh (applying uniform scaling to lattice vectors). </a:t>
            </a:r>
          </a:p>
          <a:p>
            <a:pPr/>
            <a:r>
              <a:t>Executed d3.sh on strained dataset. Applied Grimme's DFT-D3 dispersion correction and found raw dispersion energies.</a:t>
            </a:r>
          </a:p>
          <a:p>
            <a:pPr/>
            <a:r>
              <a:t>Calculated </a:t>
            </a:r>
            <a14:m>
              <m:oMath>
                <m:r>
                  <m:rPr>
                    <m:sty m:val="p"/>
                  </m:rPr>
                  <a:rPr xmlns:a="http://schemas.openxmlformats.org/drawingml/2006/main" sz="6100" i="1">
                    <a:solidFill>
                      <a:srgbClr val="747373"/>
                    </a:solidFill>
                    <a:latin typeface="Cambria Math" panose="02040503050406030204" pitchFamily="18" charset="0"/>
                  </a:rPr>
                  <m:t>Δ</m:t>
                </m:r>
                <m:r>
                  <a:rPr xmlns:a="http://schemas.openxmlformats.org/drawingml/2006/main" sz="6100" i="1">
                    <a:solidFill>
                      <a:srgbClr val="747373"/>
                    </a:solidFill>
                    <a:latin typeface="Cambria Math" panose="02040503050406030204" pitchFamily="18" charset="0"/>
                  </a:rPr>
                  <m:t>E</m:t>
                </m:r>
                <m:r>
                  <a:rPr xmlns:a="http://schemas.openxmlformats.org/drawingml/2006/main" sz="6100" i="1">
                    <a:solidFill>
                      <a:srgbClr val="747373"/>
                    </a:solidFill>
                    <a:latin typeface="Cambria Math" panose="02040503050406030204" pitchFamily="18" charset="0"/>
                  </a:rPr>
                  <m:t>=</m:t>
                </m:r>
                <m:sSub>
                  <m:e>
                    <m:r>
                      <a:rPr xmlns:a="http://schemas.openxmlformats.org/drawingml/2006/main" sz="6100" i="1">
                        <a:solidFill>
                          <a:srgbClr val="747373"/>
                        </a:solidFill>
                        <a:latin typeface="Cambria Math" panose="02040503050406030204" pitchFamily="18" charset="0"/>
                      </a:rPr>
                      <m:t>E</m:t>
                    </m:r>
                  </m:e>
                  <m:sub>
                    <m:r>
                      <a:rPr xmlns:a="http://schemas.openxmlformats.org/drawingml/2006/main" sz="6100" i="1">
                        <a:solidFill>
                          <a:srgbClr val="747373"/>
                        </a:solidFill>
                        <a:latin typeface="Cambria Math" panose="02040503050406030204" pitchFamily="18" charset="0"/>
                      </a:rPr>
                      <m:t>s</m:t>
                    </m:r>
                    <m:r>
                      <a:rPr xmlns:a="http://schemas.openxmlformats.org/drawingml/2006/main" sz="6100" i="1">
                        <a:solidFill>
                          <a:srgbClr val="747373"/>
                        </a:solidFill>
                        <a:latin typeface="Cambria Math" panose="02040503050406030204" pitchFamily="18" charset="0"/>
                      </a:rPr>
                      <m:t>t</m:t>
                    </m:r>
                    <m:r>
                      <a:rPr xmlns:a="http://schemas.openxmlformats.org/drawingml/2006/main" sz="6100" i="1">
                        <a:solidFill>
                          <a:srgbClr val="747373"/>
                        </a:solidFill>
                        <a:latin typeface="Cambria Math" panose="02040503050406030204" pitchFamily="18" charset="0"/>
                      </a:rPr>
                      <m:t>r</m:t>
                    </m:r>
                    <m:r>
                      <a:rPr xmlns:a="http://schemas.openxmlformats.org/drawingml/2006/main" sz="6100" i="1">
                        <a:solidFill>
                          <a:srgbClr val="747373"/>
                        </a:solidFill>
                        <a:latin typeface="Cambria Math" panose="02040503050406030204" pitchFamily="18" charset="0"/>
                      </a:rPr>
                      <m:t>a</m:t>
                    </m:r>
                    <m:r>
                      <a:rPr xmlns:a="http://schemas.openxmlformats.org/drawingml/2006/main" sz="6100" i="1">
                        <a:solidFill>
                          <a:srgbClr val="747373"/>
                        </a:solidFill>
                        <a:latin typeface="Cambria Math" panose="02040503050406030204" pitchFamily="18" charset="0"/>
                      </a:rPr>
                      <m:t>i</m:t>
                    </m:r>
                    <m:r>
                      <a:rPr xmlns:a="http://schemas.openxmlformats.org/drawingml/2006/main" sz="6100" i="1">
                        <a:solidFill>
                          <a:srgbClr val="747373"/>
                        </a:solidFill>
                        <a:latin typeface="Cambria Math" panose="02040503050406030204" pitchFamily="18" charset="0"/>
                      </a:rPr>
                      <m:t>n</m:t>
                    </m:r>
                    <m:r>
                      <a:rPr xmlns:a="http://schemas.openxmlformats.org/drawingml/2006/main" sz="6100" i="1">
                        <a:solidFill>
                          <a:srgbClr val="747373"/>
                        </a:solidFill>
                        <a:latin typeface="Cambria Math" panose="02040503050406030204" pitchFamily="18" charset="0"/>
                      </a:rPr>
                      <m:t>e</m:t>
                    </m:r>
                    <m:r>
                      <a:rPr xmlns:a="http://schemas.openxmlformats.org/drawingml/2006/main" sz="6100" i="1">
                        <a:solidFill>
                          <a:srgbClr val="747373"/>
                        </a:solidFill>
                        <a:latin typeface="Cambria Math" panose="02040503050406030204" pitchFamily="18" charset="0"/>
                      </a:rPr>
                      <m:t>d</m:t>
                    </m:r>
                  </m:sub>
                </m:sSub>
                <m:r>
                  <a:rPr xmlns:a="http://schemas.openxmlformats.org/drawingml/2006/main" sz="6100" i="1">
                    <a:solidFill>
                      <a:srgbClr val="747373"/>
                    </a:solidFill>
                    <a:latin typeface="Cambria Math" panose="02040503050406030204" pitchFamily="18" charset="0"/>
                  </a:rPr>
                  <m:t>-</m:t>
                </m:r>
                <m:sSub>
                  <m:e>
                    <m:r>
                      <a:rPr xmlns:a="http://schemas.openxmlformats.org/drawingml/2006/main" sz="6100" i="1">
                        <a:solidFill>
                          <a:srgbClr val="747373"/>
                        </a:solidFill>
                        <a:latin typeface="Cambria Math" panose="02040503050406030204" pitchFamily="18" charset="0"/>
                      </a:rPr>
                      <m:t>E</m:t>
                    </m:r>
                  </m:e>
                  <m:sub>
                    <m:r>
                      <a:rPr xmlns:a="http://schemas.openxmlformats.org/drawingml/2006/main" sz="6100" i="1">
                        <a:solidFill>
                          <a:srgbClr val="747373"/>
                        </a:solidFill>
                        <a:latin typeface="Cambria Math" panose="02040503050406030204" pitchFamily="18" charset="0"/>
                      </a:rPr>
                      <m:t>e</m:t>
                    </m:r>
                    <m:r>
                      <a:rPr xmlns:a="http://schemas.openxmlformats.org/drawingml/2006/main" sz="6100" i="1">
                        <a:solidFill>
                          <a:srgbClr val="747373"/>
                        </a:solidFill>
                        <a:latin typeface="Cambria Math" panose="02040503050406030204" pitchFamily="18" charset="0"/>
                      </a:rPr>
                      <m:t>q</m:t>
                    </m:r>
                    <m:r>
                      <a:rPr xmlns:a="http://schemas.openxmlformats.org/drawingml/2006/main" sz="6100" i="1">
                        <a:solidFill>
                          <a:srgbClr val="747373"/>
                        </a:solidFill>
                        <a:latin typeface="Cambria Math" panose="02040503050406030204" pitchFamily="18" charset="0"/>
                      </a:rPr>
                      <m:t>u</m:t>
                    </m:r>
                    <m:r>
                      <a:rPr xmlns:a="http://schemas.openxmlformats.org/drawingml/2006/main" sz="6100" i="1">
                        <a:solidFill>
                          <a:srgbClr val="747373"/>
                        </a:solidFill>
                        <a:latin typeface="Cambria Math" panose="02040503050406030204" pitchFamily="18" charset="0"/>
                      </a:rPr>
                      <m:t>i</m:t>
                    </m:r>
                    <m:r>
                      <a:rPr xmlns:a="http://schemas.openxmlformats.org/drawingml/2006/main" sz="6100" i="1">
                        <a:solidFill>
                          <a:srgbClr val="747373"/>
                        </a:solidFill>
                        <a:latin typeface="Cambria Math" panose="02040503050406030204" pitchFamily="18" charset="0"/>
                      </a:rPr>
                      <m:t>l</m:t>
                    </m:r>
                    <m:r>
                      <a:rPr xmlns:a="http://schemas.openxmlformats.org/drawingml/2006/main" sz="6100" i="1">
                        <a:solidFill>
                          <a:srgbClr val="747373"/>
                        </a:solidFill>
                        <a:latin typeface="Cambria Math" panose="02040503050406030204" pitchFamily="18" charset="0"/>
                      </a:rPr>
                      <m:t>i</m:t>
                    </m:r>
                    <m:r>
                      <a:rPr xmlns:a="http://schemas.openxmlformats.org/drawingml/2006/main" sz="6100" i="1">
                        <a:solidFill>
                          <a:srgbClr val="747373"/>
                        </a:solidFill>
                        <a:latin typeface="Cambria Math" panose="02040503050406030204" pitchFamily="18" charset="0"/>
                      </a:rPr>
                      <m:t>b</m:t>
                    </m:r>
                    <m:r>
                      <a:rPr xmlns:a="http://schemas.openxmlformats.org/drawingml/2006/main" sz="6100" i="1">
                        <a:solidFill>
                          <a:srgbClr val="747373"/>
                        </a:solidFill>
                        <a:latin typeface="Cambria Math" panose="02040503050406030204" pitchFamily="18" charset="0"/>
                      </a:rPr>
                      <m:t>r</m:t>
                    </m:r>
                    <m:r>
                      <a:rPr xmlns:a="http://schemas.openxmlformats.org/drawingml/2006/main" sz="6100" i="1">
                        <a:solidFill>
                          <a:srgbClr val="747373"/>
                        </a:solidFill>
                        <a:latin typeface="Cambria Math" panose="02040503050406030204" pitchFamily="18" charset="0"/>
                      </a:rPr>
                      <m:t>i</m:t>
                    </m:r>
                    <m:r>
                      <a:rPr xmlns:a="http://schemas.openxmlformats.org/drawingml/2006/main" sz="6100" i="1">
                        <a:solidFill>
                          <a:srgbClr val="747373"/>
                        </a:solidFill>
                        <a:latin typeface="Cambria Math" panose="02040503050406030204" pitchFamily="18" charset="0"/>
                      </a:rPr>
                      <m:t>u</m:t>
                    </m:r>
                    <m:r>
                      <a:rPr xmlns:a="http://schemas.openxmlformats.org/drawingml/2006/main" sz="6100" i="1">
                        <a:solidFill>
                          <a:srgbClr val="747373"/>
                        </a:solidFill>
                        <a:latin typeface="Cambria Math" panose="02040503050406030204" pitchFamily="18" charset="0"/>
                      </a:rPr>
                      <m:t>m</m:t>
                    </m:r>
                  </m:sub>
                </m:sSub>
              </m:oMath>
            </a14:m>
            <a:r>
              <a:t>. Gathered bulk statistics via output_csv.sh and Python automation.</a:t>
            </a:r>
            <a:endParaRPr sz="5755"/>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Dataset"/>
          <p:cNvSpPr txBox="1"/>
          <p:nvPr>
            <p:ph type="title"/>
          </p:nvPr>
        </p:nvSpPr>
        <p:spPr>
          <a:prstGeom prst="rect">
            <a:avLst/>
          </a:prstGeom>
        </p:spPr>
        <p:txBody>
          <a:bodyPr/>
          <a:lstStyle/>
          <a:p>
            <a:pPr/>
            <a:r>
              <a:t>Dataset</a:t>
            </a:r>
          </a:p>
        </p:txBody>
      </p:sp>
      <p:sp>
        <p:nvSpPr>
          <p:cNvPr id="154" name="Binary Oxides ( ): 37 unique chemical systems.…"/>
          <p:cNvSpPr txBox="1"/>
          <p:nvPr>
            <p:ph type="body" idx="1"/>
          </p:nvPr>
        </p:nvSpPr>
        <p:spPr>
          <a:prstGeom prst="rect">
            <a:avLst/>
          </a:prstGeom>
        </p:spPr>
        <p:txBody>
          <a:bodyPr/>
          <a:lstStyle/>
          <a:p>
            <a:pPr marL="559498" indent="-559498" defTabSz="727347">
              <a:spcBef>
                <a:spcPts val="5100"/>
              </a:spcBef>
              <a:defRPr sz="4356"/>
            </a:pPr>
            <a:r>
              <a:t>Binary Oxides (</a:t>
            </a:r>
            <a14:m>
              <m:oMath>
                <m:sSub>
                  <m:e>
                    <m:r>
                      <a:rPr xmlns:a="http://schemas.openxmlformats.org/drawingml/2006/main" sz="5300" i="1">
                        <a:solidFill>
                          <a:srgbClr val="747373"/>
                        </a:solidFill>
                        <a:latin typeface="Cambria Math" panose="02040503050406030204" pitchFamily="18" charset="0"/>
                      </a:rPr>
                      <m:t>M</m:t>
                    </m:r>
                  </m:e>
                  <m:sub>
                    <m:r>
                      <a:rPr xmlns:a="http://schemas.openxmlformats.org/drawingml/2006/main" sz="5300" i="1">
                        <a:solidFill>
                          <a:srgbClr val="747373"/>
                        </a:solidFill>
                        <a:latin typeface="Cambria Math" panose="02040503050406030204" pitchFamily="18" charset="0"/>
                      </a:rPr>
                      <m:t>x</m:t>
                    </m:r>
                  </m:sub>
                </m:sSub>
                <m:sSub>
                  <m:e>
                    <m:r>
                      <a:rPr xmlns:a="http://schemas.openxmlformats.org/drawingml/2006/main" sz="5300" i="1">
                        <a:solidFill>
                          <a:srgbClr val="747373"/>
                        </a:solidFill>
                        <a:latin typeface="Cambria Math" panose="02040503050406030204" pitchFamily="18" charset="0"/>
                      </a:rPr>
                      <m:t>O</m:t>
                    </m:r>
                  </m:e>
                  <m:sub>
                    <m:r>
                      <a:rPr xmlns:a="http://schemas.openxmlformats.org/drawingml/2006/main" sz="5300" i="1">
                        <a:solidFill>
                          <a:srgbClr val="747373"/>
                        </a:solidFill>
                        <a:latin typeface="Cambria Math" panose="02040503050406030204" pitchFamily="18" charset="0"/>
                      </a:rPr>
                      <m:t>y</m:t>
                    </m:r>
                  </m:sub>
                </m:sSub>
              </m:oMath>
            </a14:m>
            <a:r>
              <a:t>): 37 unique chemical systems.</a:t>
            </a:r>
          </a:p>
          <a:p>
            <a:pPr marL="559498" indent="-559498" defTabSz="727347">
              <a:spcBef>
                <a:spcPts val="5100"/>
              </a:spcBef>
              <a:defRPr sz="4356"/>
            </a:pPr>
            <a:r>
              <a:t>Binary Configurations: 848 discrete structural states tested.</a:t>
            </a:r>
          </a:p>
          <a:p>
            <a:pPr marL="559498" indent="-559498" defTabSz="727347">
              <a:spcBef>
                <a:spcPts val="5100"/>
              </a:spcBef>
              <a:defRPr sz="4356"/>
            </a:pPr>
            <a:r>
              <a:t>Ternary Oxides (</a:t>
            </a:r>
            <a14:m>
              <m:oMath>
                <m:sSub>
                  <m:e>
                    <m:r>
                      <a:rPr xmlns:a="http://schemas.openxmlformats.org/drawingml/2006/main" sz="5300" i="1">
                        <a:solidFill>
                          <a:srgbClr val="747373"/>
                        </a:solidFill>
                        <a:latin typeface="Cambria Math" panose="02040503050406030204" pitchFamily="18" charset="0"/>
                      </a:rPr>
                      <m:t>M</m:t>
                    </m:r>
                  </m:e>
                  <m:sub>
                    <m:r>
                      <a:rPr xmlns:a="http://schemas.openxmlformats.org/drawingml/2006/main" sz="5300" i="1">
                        <a:solidFill>
                          <a:srgbClr val="747373"/>
                        </a:solidFill>
                        <a:latin typeface="Cambria Math" panose="02040503050406030204" pitchFamily="18" charset="0"/>
                      </a:rPr>
                      <m:t>x</m:t>
                    </m:r>
                  </m:sub>
                </m:sSub>
                <m:sSubSup>
                  <m:e>
                    <m:r>
                      <a:rPr xmlns:a="http://schemas.openxmlformats.org/drawingml/2006/main" sz="5300" i="1">
                        <a:solidFill>
                          <a:srgbClr val="747373"/>
                        </a:solidFill>
                        <a:latin typeface="Cambria Math" panose="02040503050406030204" pitchFamily="18" charset="0"/>
                      </a:rPr>
                      <m:t>M</m:t>
                    </m:r>
                  </m:e>
                  <m:sub>
                    <m:r>
                      <a:rPr xmlns:a="http://schemas.openxmlformats.org/drawingml/2006/main" sz="5300" i="1">
                        <a:solidFill>
                          <a:srgbClr val="747373"/>
                        </a:solidFill>
                        <a:latin typeface="Cambria Math" panose="02040503050406030204" pitchFamily="18" charset="0"/>
                      </a:rPr>
                      <m:t>y</m:t>
                    </m:r>
                  </m:sub>
                  <m:sup>
                    <m:r>
                      <a:rPr xmlns:a="http://schemas.openxmlformats.org/drawingml/2006/main" sz="5300" i="1">
                        <a:solidFill>
                          <a:srgbClr val="747373"/>
                        </a:solidFill>
                        <a:latin typeface="Cambria Math" panose="02040503050406030204" pitchFamily="18" charset="0"/>
                      </a:rPr>
                      <m:t>′</m:t>
                    </m:r>
                  </m:sup>
                </m:sSubSup>
                <m:sSub>
                  <m:e>
                    <m:r>
                      <a:rPr xmlns:a="http://schemas.openxmlformats.org/drawingml/2006/main" sz="5300" i="1">
                        <a:solidFill>
                          <a:srgbClr val="747373"/>
                        </a:solidFill>
                        <a:latin typeface="Cambria Math" panose="02040503050406030204" pitchFamily="18" charset="0"/>
                      </a:rPr>
                      <m:t>O</m:t>
                    </m:r>
                  </m:e>
                  <m:sub>
                    <m:r>
                      <a:rPr xmlns:a="http://schemas.openxmlformats.org/drawingml/2006/main" sz="5300" i="1">
                        <a:solidFill>
                          <a:srgbClr val="747373"/>
                        </a:solidFill>
                        <a:latin typeface="Cambria Math" panose="02040503050406030204" pitchFamily="18" charset="0"/>
                      </a:rPr>
                      <m:t>z</m:t>
                    </m:r>
                  </m:sub>
                </m:sSub>
              </m:oMath>
            </a14:m>
            <a:r>
              <a:t>): </a:t>
            </a:r>
          </a:p>
          <a:p>
            <a:pPr marL="559498" indent="-559498" defTabSz="727347">
              <a:spcBef>
                <a:spcPts val="5100"/>
              </a:spcBef>
              <a:defRPr sz="4356"/>
            </a:pPr>
          </a:p>
          <a:p>
            <a:pPr marL="559498" indent="-559498" defTabSz="727347">
              <a:spcBef>
                <a:spcPts val="5100"/>
              </a:spcBef>
              <a:defRPr sz="4356"/>
            </a:pPr>
            <a:r>
              <a:t>d-block Metals: Focused on transition metal behavior (e.g., Ti, Ni, Pd, Co).</a:t>
            </a:r>
          </a:p>
          <a:p>
            <a:pPr marL="559498" indent="-559498" defTabSz="727347">
              <a:spcBef>
                <a:spcPts val="5100"/>
              </a:spcBef>
              <a:defRPr sz="4356"/>
            </a:pPr>
            <a:r>
              <a:t>Structural Geometries: Evaluated across multiple packing efficiencies.</a:t>
            </a:r>
          </a:p>
          <a:p>
            <a:pPr marL="559498" indent="-559498" defTabSz="727347">
              <a:spcBef>
                <a:spcPts val="5100"/>
              </a:spcBef>
              <a:defRPr sz="4356"/>
            </a:pPr>
            <a:r>
              <a:t>Mean Cell Dimension: 9.14 </a:t>
            </a:r>
            <a14:m>
              <m:oMath>
                <m:r>
                  <m:rPr>
                    <m:sty m:val="p"/>
                  </m:rPr>
                  <a:rPr xmlns:a="http://schemas.openxmlformats.org/drawingml/2006/main" sz="5300" i="1">
                    <a:solidFill>
                      <a:srgbClr val="747373"/>
                    </a:solidFill>
                    <a:latin typeface="Cambria Math" panose="02040503050406030204" pitchFamily="18" charset="0"/>
                  </a:rPr>
                  <m:t>Å</m:t>
                </m:r>
              </m:oMath>
            </a14:m>
            <a:r>
              <a:t> (baseline reference).</a:t>
            </a:r>
            <a:endParaRPr sz="5095"/>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Global Dispersion Profile"/>
          <p:cNvSpPr txBox="1"/>
          <p:nvPr>
            <p:ph type="title"/>
          </p:nvPr>
        </p:nvSpPr>
        <p:spPr>
          <a:prstGeom prst="rect">
            <a:avLst/>
          </a:prstGeom>
        </p:spPr>
        <p:txBody>
          <a:bodyPr/>
          <a:lstStyle/>
          <a:p>
            <a:pPr/>
            <a:r>
              <a:t>Global Dispersion Profile</a:t>
            </a:r>
          </a:p>
        </p:txBody>
      </p:sp>
      <p:sp>
        <p:nvSpPr>
          <p:cNvPr id="157" name="The dataset shows a heavily asymmetric distribution with a long tail of negative   values.…"/>
          <p:cNvSpPr txBox="1"/>
          <p:nvPr>
            <p:ph type="body" sz="half" idx="1"/>
          </p:nvPr>
        </p:nvSpPr>
        <p:spPr>
          <a:xfrm>
            <a:off x="1066799" y="3124200"/>
            <a:ext cx="9270308" cy="9372600"/>
          </a:xfrm>
          <a:prstGeom prst="rect">
            <a:avLst/>
          </a:prstGeom>
        </p:spPr>
        <p:txBody>
          <a:bodyPr/>
          <a:lstStyle/>
          <a:p>
            <a:pPr marL="508000" indent="-508000" defTabSz="660400">
              <a:spcBef>
                <a:spcPts val="4700"/>
              </a:spcBef>
              <a:defRPr sz="4000"/>
            </a:pPr>
            <a:r>
              <a:t>The dataset shows a heavily asymmetric distribution with a long tail of negative </a:t>
            </a:r>
            <a14:m>
              <m:oMath>
                <m:r>
                  <m:rPr>
                    <m:sty m:val="p"/>
                  </m:rPr>
                  <a:rPr xmlns:a="http://schemas.openxmlformats.org/drawingml/2006/main" sz="4800" i="1">
                    <a:solidFill>
                      <a:srgbClr val="747373"/>
                    </a:solidFill>
                    <a:latin typeface="Cambria Math" panose="02040503050406030204" pitchFamily="18" charset="0"/>
                  </a:rPr>
                  <m:t>Δ</m:t>
                </m:r>
                <m:r>
                  <a:rPr xmlns:a="http://schemas.openxmlformats.org/drawingml/2006/main" sz="4800" i="1">
                    <a:solidFill>
                      <a:srgbClr val="747373"/>
                    </a:solidFill>
                    <a:latin typeface="Cambria Math" panose="02040503050406030204" pitchFamily="18" charset="0"/>
                  </a:rPr>
                  <m:t>E</m:t>
                </m:r>
              </m:oMath>
            </a14:m>
            <a:r>
              <a:t> values.</a:t>
            </a:r>
          </a:p>
          <a:p>
            <a:pPr marL="508000" indent="-508000" defTabSz="660400">
              <a:spcBef>
                <a:spcPts val="4700"/>
              </a:spcBef>
              <a:defRPr sz="4000"/>
            </a:pPr>
            <a:r>
              <a:t>The majority of binary oxide configurations maintain dispersion stability (</a:t>
            </a:r>
            <a14:m>
              <m:oMath>
                <m:r>
                  <m:rPr>
                    <m:sty m:val="p"/>
                  </m:rPr>
                  <a:rPr xmlns:a="http://schemas.openxmlformats.org/drawingml/2006/main" sz="4800" i="1">
                    <a:solidFill>
                      <a:srgbClr val="747373"/>
                    </a:solidFill>
                    <a:latin typeface="Cambria Math" panose="02040503050406030204" pitchFamily="18" charset="0"/>
                  </a:rPr>
                  <m:t>Δ</m:t>
                </m:r>
                <m:r>
                  <a:rPr xmlns:a="http://schemas.openxmlformats.org/drawingml/2006/main" sz="4800" i="1">
                    <a:solidFill>
                      <a:srgbClr val="747373"/>
                    </a:solidFill>
                    <a:latin typeface="Cambria Math" panose="02040503050406030204" pitchFamily="18" charset="0"/>
                  </a:rPr>
                  <m:t>E</m:t>
                </m:r>
                <m:r>
                  <a:rPr xmlns:a="http://schemas.openxmlformats.org/drawingml/2006/main" sz="4800" i="1">
                    <a:solidFill>
                      <a:srgbClr val="747373"/>
                    </a:solidFill>
                    <a:latin typeface="Cambria Math" panose="02040503050406030204" pitchFamily="18" charset="0"/>
                  </a:rPr>
                  <m:t>≈</m:t>
                </m:r>
                <m:r>
                  <a:rPr xmlns:a="http://schemas.openxmlformats.org/drawingml/2006/main" sz="4800" i="1">
                    <a:solidFill>
                      <a:srgbClr val="747373"/>
                    </a:solidFill>
                    <a:latin typeface="Cambria Math" panose="02040503050406030204" pitchFamily="18" charset="0"/>
                  </a:rPr>
                  <m:t>0</m:t>
                </m:r>
              </m:oMath>
            </a14:m>
            <a:r>
              <a:t>).</a:t>
            </a:r>
          </a:p>
          <a:p>
            <a:pPr marL="508000" indent="-508000" defTabSz="660400">
              <a:spcBef>
                <a:spcPts val="4700"/>
              </a:spcBef>
              <a:defRPr sz="4000"/>
            </a:pPr>
            <a:r>
              <a:t>A distinct minor population undergoes severe, non-linear energy stabilization, pointing to highly localized parametrical breakdowns in the DFT-D3 method.</a:t>
            </a:r>
          </a:p>
        </p:txBody>
      </p:sp>
      <p:pic>
        <p:nvPicPr>
          <p:cNvPr id="158" name="histogram_delta_E.png" descr="histogram_delta_E.png"/>
          <p:cNvPicPr>
            <a:picLocks noChangeAspect="1"/>
          </p:cNvPicPr>
          <p:nvPr/>
        </p:nvPicPr>
        <p:blipFill>
          <a:blip r:embed="rId2">
            <a:extLst/>
          </a:blip>
          <a:stretch>
            <a:fillRect/>
          </a:stretch>
        </p:blipFill>
        <p:spPr>
          <a:xfrm>
            <a:off x="10624697" y="4061707"/>
            <a:ext cx="12085571" cy="7497586"/>
          </a:xfrm>
          <a:prstGeom prst="rect">
            <a:avLst/>
          </a:prstGeom>
          <a:ln w="12700">
            <a:miter lim="400000"/>
          </a:ln>
        </p:spPr>
      </p:pic>
      <p:sp>
        <p:nvSpPr>
          <p:cNvPr id="159" name="Figure 1: Global distribution of dispersion energy variance ( ) across all 848 binary metal oxide configurations."/>
          <p:cNvSpPr txBox="1"/>
          <p:nvPr/>
        </p:nvSpPr>
        <p:spPr>
          <a:xfrm>
            <a:off x="11164192" y="11525625"/>
            <a:ext cx="12085571" cy="100798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330200" indent="-330200" defTabSz="429259">
              <a:spcBef>
                <a:spcPts val="3000"/>
              </a:spcBef>
              <a:buSzPct val="75000"/>
              <a:buFont typeface="Helvetica Neue"/>
              <a:buChar char="•"/>
              <a:defRPr sz="2600"/>
            </a:pPr>
            <a:r>
              <a:t>Figure 1: Global distribution of dispersion energy variance (</a:t>
            </a:r>
            <a14:m>
              <m:oMath>
                <m:r>
                  <m:rPr>
                    <m:sty m:val="p"/>
                  </m:rPr>
                  <a:rPr xmlns:a="http://schemas.openxmlformats.org/drawingml/2006/main" sz="3100" i="1">
                    <a:solidFill>
                      <a:srgbClr val="747373"/>
                    </a:solidFill>
                    <a:latin typeface="Cambria Math" panose="02040503050406030204" pitchFamily="18" charset="0"/>
                  </a:rPr>
                  <m:t>Δ</m:t>
                </m:r>
                <m:r>
                  <a:rPr xmlns:a="http://schemas.openxmlformats.org/drawingml/2006/main" sz="3100" i="1">
                    <a:solidFill>
                      <a:srgbClr val="747373"/>
                    </a:solidFill>
                    <a:latin typeface="Cambria Math" panose="02040503050406030204" pitchFamily="18" charset="0"/>
                  </a:rPr>
                  <m:t>E</m:t>
                </m:r>
              </m:oMath>
            </a14:m>
            <a:r>
              <a:t>) across all 848 binary metal oxide configurations.</a:t>
            </a:r>
            <a:endParaRPr sz="2924"/>
          </a:p>
        </p:txBody>
      </p:sp>
      <p:sp>
        <p:nvSpPr>
          <p:cNvPr id="160" name="Figure 1: Distribution of Delta E"/>
          <p:cNvSpPr txBox="1"/>
          <p:nvPr/>
        </p:nvSpPr>
        <p:spPr>
          <a:xfrm>
            <a:off x="11225730" y="3098981"/>
            <a:ext cx="10883505" cy="9106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defTabSz="767715">
              <a:spcBef>
                <a:spcPts val="0"/>
              </a:spcBef>
              <a:defRPr sz="5300">
                <a:solidFill>
                  <a:srgbClr val="000000"/>
                </a:solidFill>
              </a:defRPr>
            </a:lvl1pPr>
          </a:lstStyle>
          <a:p>
            <a:pPr/>
            <a:r>
              <a:t>Figure 1: Distribution of Delta 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Global Dispersion Profile"/>
          <p:cNvSpPr txBox="1"/>
          <p:nvPr>
            <p:ph type="title"/>
          </p:nvPr>
        </p:nvSpPr>
        <p:spPr>
          <a:prstGeom prst="rect">
            <a:avLst/>
          </a:prstGeom>
        </p:spPr>
        <p:txBody>
          <a:bodyPr/>
          <a:lstStyle/>
          <a:p>
            <a:pPr/>
            <a:r>
              <a:t>Global Dispersion Profile</a:t>
            </a:r>
          </a:p>
        </p:txBody>
      </p:sp>
      <p:sp>
        <p:nvSpPr>
          <p:cNvPr id="163" name="Figure 1: Distribution of Delta E"/>
          <p:cNvSpPr txBox="1"/>
          <p:nvPr/>
        </p:nvSpPr>
        <p:spPr>
          <a:xfrm>
            <a:off x="1167330" y="3247708"/>
            <a:ext cx="9928623" cy="76190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defTabSz="627379">
              <a:spcBef>
                <a:spcPts val="0"/>
              </a:spcBef>
              <a:defRPr sz="4400">
                <a:solidFill>
                  <a:srgbClr val="000000"/>
                </a:solidFill>
              </a:defRPr>
            </a:lvl1pPr>
          </a:lstStyle>
          <a:p>
            <a:pPr/>
            <a:r>
              <a:t>Figure 1: Distribution of Delta E</a:t>
            </a:r>
          </a:p>
        </p:txBody>
      </p:sp>
      <p:sp>
        <p:nvSpPr>
          <p:cNvPr id="164" name="The Massive Peak at 0.0 represents the vast majority of our dataset and tells us that for most metal oxides, applying systematic lattice strain methodology has almost zero effect on the calculated DFT-D3 dispersion energy. For these standard systems, the"/>
          <p:cNvSpPr txBox="1"/>
          <p:nvPr>
            <p:ph type="body" idx="1"/>
          </p:nvPr>
        </p:nvSpPr>
        <p:spPr>
          <a:xfrm>
            <a:off x="1039287" y="4165599"/>
            <a:ext cx="22305426" cy="8614472"/>
          </a:xfrm>
          <a:prstGeom prst="rect">
            <a:avLst/>
          </a:prstGeom>
        </p:spPr>
        <p:txBody>
          <a:bodyPr/>
          <a:lstStyle/>
          <a:p>
            <a:pPr marL="527050" indent="-527050" defTabSz="685165">
              <a:spcBef>
                <a:spcPts val="4800"/>
              </a:spcBef>
              <a:defRPr sz="4100"/>
            </a:pPr>
            <a:r>
              <a:t>The Massive Peak at 0.0 represents the vast majority of our dataset and tells us that for most metal oxides, applying systematic lattice strain methodology has almost zero effect on the calculated DFT-D3 dispersion energy. For these standard systems, the dispersion landscape is completely flat, meaning the D3 method is robust and performs as expected.</a:t>
            </a:r>
          </a:p>
          <a:p>
            <a:pPr marL="527050" indent="-527050" defTabSz="685165">
              <a:spcBef>
                <a:spcPts val="4800"/>
              </a:spcBef>
              <a:defRPr sz="4100"/>
            </a:pPr>
            <a:r>
              <a:t>The plot continuing out toward -1.6 represent the rare anomalies that were identified. These are the configurations dominated by early d-block metals like Titanium where the dispersion energy suddenly drops to an artificially low, stabilizing value when the bond lengths are strained.</a:t>
            </a:r>
          </a:p>
          <a:p>
            <a:pPr marL="527050" indent="-527050" defTabSz="685165">
              <a:spcBef>
                <a:spcPts val="4800"/>
              </a:spcBef>
              <a:defRPr sz="4100"/>
            </a:pPr>
            <a:r>
              <a:t>Physical Meaning: This tail shows that while DFT-D3 works for most cases, it can lose its physical reliability for specific systems under geometric strain, potentially due to the method overestimating attractive forces between certain atom pairs when they get too close or too far apart.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Global Dispersion Profile"/>
          <p:cNvSpPr txBox="1"/>
          <p:nvPr>
            <p:ph type="title"/>
          </p:nvPr>
        </p:nvSpPr>
        <p:spPr>
          <a:prstGeom prst="rect">
            <a:avLst/>
          </a:prstGeom>
        </p:spPr>
        <p:txBody>
          <a:bodyPr/>
          <a:lstStyle/>
          <a:p>
            <a:pPr/>
            <a:r>
              <a:t>Global Dispersion Profile</a:t>
            </a:r>
          </a:p>
        </p:txBody>
      </p:sp>
      <p:pic>
        <p:nvPicPr>
          <p:cNvPr id="167" name="configuration_extremes_top_vs_bottom.png" descr="configuration_extremes_top_vs_bottom.png"/>
          <p:cNvPicPr>
            <a:picLocks noChangeAspect="1"/>
          </p:cNvPicPr>
          <p:nvPr/>
        </p:nvPicPr>
        <p:blipFill>
          <a:blip r:embed="rId2">
            <a:extLst/>
          </a:blip>
          <a:stretch>
            <a:fillRect/>
          </a:stretch>
        </p:blipFill>
        <p:spPr>
          <a:xfrm>
            <a:off x="268643" y="4055097"/>
            <a:ext cx="23287914" cy="8069606"/>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Global Dispersion Profile"/>
          <p:cNvSpPr txBox="1"/>
          <p:nvPr>
            <p:ph type="title"/>
          </p:nvPr>
        </p:nvSpPr>
        <p:spPr>
          <a:prstGeom prst="rect">
            <a:avLst/>
          </a:prstGeom>
        </p:spPr>
        <p:txBody>
          <a:bodyPr/>
          <a:lstStyle/>
          <a:p>
            <a:pPr/>
            <a:r>
              <a:t>Global Dispersion Profile</a:t>
            </a:r>
          </a:p>
        </p:txBody>
      </p:sp>
      <p:pic>
        <p:nvPicPr>
          <p:cNvPr id="170" name="configuration_extremes_top_vs_bottom.png" descr="configuration_extremes_top_vs_bottom.png"/>
          <p:cNvPicPr>
            <a:picLocks noChangeAspect="1"/>
          </p:cNvPicPr>
          <p:nvPr/>
        </p:nvPicPr>
        <p:blipFill>
          <a:blip r:embed="rId2">
            <a:extLst/>
          </a:blip>
          <a:stretch>
            <a:fillRect/>
          </a:stretch>
        </p:blipFill>
        <p:spPr>
          <a:xfrm>
            <a:off x="592139" y="3098980"/>
            <a:ext cx="22844122" cy="8798968"/>
          </a:xfrm>
          <a:prstGeom prst="rect">
            <a:avLst/>
          </a:prstGeom>
          <a:ln w="12700">
            <a:miter lim="400000"/>
          </a:ln>
        </p:spPr>
      </p:pic>
      <p:sp>
        <p:nvSpPr>
          <p:cNvPr id="171" name="Figure 4: Top 20 structural configurations exhibiting the maximum dispersion energy variance ( ) under lattice strain."/>
          <p:cNvSpPr txBox="1"/>
          <p:nvPr/>
        </p:nvSpPr>
        <p:spPr>
          <a:xfrm>
            <a:off x="939799" y="11925300"/>
            <a:ext cx="11762583" cy="1968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412750">
              <a:spcBef>
                <a:spcPts val="0"/>
              </a:spcBef>
              <a:defRPr sz="2900">
                <a:solidFill>
                  <a:srgbClr val="000000"/>
                </a:solidFill>
              </a:defRPr>
            </a:pPr>
            <a:r>
              <a:t>Figure 4: Top 20 structural configurations exhibiting the maximum dispersion energy variance (</a:t>
            </a:r>
            <a14:m>
              <m:oMath>
                <m:r>
                  <m:rPr>
                    <m:sty m:val="p"/>
                  </m:rPr>
                  <a:rPr xmlns:a="http://schemas.openxmlformats.org/drawingml/2006/main" sz="3500" i="1">
                    <a:solidFill>
                      <a:srgbClr val="000000"/>
                    </a:solidFill>
                    <a:latin typeface="Cambria Math" panose="02040503050406030204" pitchFamily="18" charset="0"/>
                  </a:rPr>
                  <m:t>Δ</m:t>
                </m:r>
                <m:r>
                  <a:rPr xmlns:a="http://schemas.openxmlformats.org/drawingml/2006/main" sz="3500" i="1">
                    <a:solidFill>
                      <a:srgbClr val="000000"/>
                    </a:solidFill>
                    <a:latin typeface="Cambria Math" panose="02040503050406030204" pitchFamily="18" charset="0"/>
                  </a:rPr>
                  <m:t>E</m:t>
                </m:r>
              </m:oMath>
            </a14:m>
            <a:r>
              <a:t>) under lattice strain.</a:t>
            </a:r>
          </a:p>
        </p:txBody>
      </p:sp>
      <p:sp>
        <p:nvSpPr>
          <p:cNvPr id="172" name="Figure 5: Bottom 20 structural configurations exhibiting near-zero dispersion energy variance ( ), representing maximal stability."/>
          <p:cNvSpPr txBox="1"/>
          <p:nvPr/>
        </p:nvSpPr>
        <p:spPr>
          <a:xfrm>
            <a:off x="12268199" y="11671300"/>
            <a:ext cx="11762584" cy="1968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462280">
              <a:spcBef>
                <a:spcPts val="0"/>
              </a:spcBef>
              <a:defRPr sz="3200">
                <a:solidFill>
                  <a:srgbClr val="000000"/>
                </a:solidFill>
              </a:defRPr>
            </a:pPr>
            <a:r>
              <a:t>Figure 5: Bottom 20 structural configurations exhibiting near-zero dispersion energy variance (</a:t>
            </a:r>
            <a14:m>
              <m:oMath>
                <m:r>
                  <m:rPr>
                    <m:sty m:val="p"/>
                  </m:rPr>
                  <a:rPr xmlns:a="http://schemas.openxmlformats.org/drawingml/2006/main" sz="3900" i="1">
                    <a:solidFill>
                      <a:srgbClr val="000000"/>
                    </a:solidFill>
                    <a:latin typeface="Cambria Math" panose="02040503050406030204" pitchFamily="18" charset="0"/>
                  </a:rPr>
                  <m:t>Δ</m:t>
                </m:r>
                <m:r>
                  <a:rPr xmlns:a="http://schemas.openxmlformats.org/drawingml/2006/main" sz="3900" i="1">
                    <a:solidFill>
                      <a:srgbClr val="000000"/>
                    </a:solidFill>
                    <a:latin typeface="Cambria Math" panose="02040503050406030204" pitchFamily="18" charset="0"/>
                  </a:rPr>
                  <m:t>E</m:t>
                </m:r>
              </m:oMath>
            </a14:m>
            <a:r>
              <a:t>), representing maximal stability.</a:t>
            </a:r>
            <a:endParaRPr sz="3679"/>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Global Dispersion Profile"/>
          <p:cNvSpPr txBox="1"/>
          <p:nvPr>
            <p:ph type="title"/>
          </p:nvPr>
        </p:nvSpPr>
        <p:spPr>
          <a:prstGeom prst="rect">
            <a:avLst/>
          </a:prstGeom>
        </p:spPr>
        <p:txBody>
          <a:bodyPr/>
          <a:lstStyle/>
          <a:p>
            <a:pPr/>
            <a:r>
              <a:t>Global Dispersion Profile</a:t>
            </a:r>
          </a:p>
        </p:txBody>
      </p:sp>
      <p:sp>
        <p:nvSpPr>
          <p:cNvPr id="175" name="Figure 4: Top 20 structural configurations exhibiting the maximum dispersion energy variance ( ) under lattice strain."/>
          <p:cNvSpPr txBox="1"/>
          <p:nvPr/>
        </p:nvSpPr>
        <p:spPr>
          <a:xfrm>
            <a:off x="1070957" y="2169639"/>
            <a:ext cx="22729927" cy="19685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495300">
              <a:spcBef>
                <a:spcPts val="0"/>
              </a:spcBef>
              <a:defRPr sz="3400" u="sng">
                <a:solidFill>
                  <a:srgbClr val="000000"/>
                </a:solidFill>
              </a:defRPr>
            </a:pPr>
            <a:r>
              <a:t>Figure 4: Top 20 structural configurations exhibiting the maximum dispersion energy variance (</a:t>
            </a:r>
            <a14:m>
              <m:oMath>
                <m:r>
                  <m:rPr>
                    <m:sty m:val="p"/>
                  </m:rPr>
                  <a:rPr xmlns:a="http://schemas.openxmlformats.org/drawingml/2006/main" sz="4200" i="1">
                    <a:solidFill>
                      <a:srgbClr val="000000"/>
                    </a:solidFill>
                    <a:latin typeface="Cambria Math" panose="02040503050406030204" pitchFamily="18" charset="0"/>
                  </a:rPr>
                  <m:t>Δ</m:t>
                </m:r>
                <m:r>
                  <a:rPr xmlns:a="http://schemas.openxmlformats.org/drawingml/2006/main" sz="4200" i="1">
                    <a:solidFill>
                      <a:srgbClr val="000000"/>
                    </a:solidFill>
                    <a:latin typeface="Cambria Math" panose="02040503050406030204" pitchFamily="18" charset="0"/>
                  </a:rPr>
                  <m:t>E</m:t>
                </m:r>
              </m:oMath>
            </a14:m>
            <a:r>
              <a:t>) under lattice strain.</a:t>
            </a:r>
          </a:p>
        </p:txBody>
      </p:sp>
      <p:sp>
        <p:nvSpPr>
          <p:cNvPr id="176" name="Figure 5: Bottom 20 structural configurations exhibiting near-zero dispersion energy variance ( ), representing maximal stability."/>
          <p:cNvSpPr txBox="1"/>
          <p:nvPr/>
        </p:nvSpPr>
        <p:spPr>
          <a:xfrm>
            <a:off x="1014505" y="7439675"/>
            <a:ext cx="23225326" cy="19685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536575">
              <a:spcBef>
                <a:spcPts val="0"/>
              </a:spcBef>
              <a:defRPr sz="3700" u="sng">
                <a:solidFill>
                  <a:srgbClr val="000000"/>
                </a:solidFill>
              </a:defRPr>
            </a:pPr>
            <a:r>
              <a:t>Figure 5: Bottom 20 structural configurations exhibiting near-zero dispersion energy variance (</a:t>
            </a:r>
            <a14:m>
              <m:oMath>
                <m:r>
                  <m:rPr>
                    <m:sty m:val="p"/>
                  </m:rPr>
                  <a:rPr xmlns:a="http://schemas.openxmlformats.org/drawingml/2006/main" sz="4600" i="1">
                    <a:solidFill>
                      <a:srgbClr val="000000"/>
                    </a:solidFill>
                    <a:latin typeface="Cambria Math" panose="02040503050406030204" pitchFamily="18" charset="0"/>
                  </a:rPr>
                  <m:t>Δ</m:t>
                </m:r>
                <m:r>
                  <a:rPr xmlns:a="http://schemas.openxmlformats.org/drawingml/2006/main" sz="4600" i="1">
                    <a:solidFill>
                      <a:srgbClr val="000000"/>
                    </a:solidFill>
                    <a:latin typeface="Cambria Math" panose="02040503050406030204" pitchFamily="18" charset="0"/>
                  </a:rPr>
                  <m:t>E</m:t>
                </m:r>
              </m:oMath>
            </a14:m>
            <a:r>
              <a:t>), representing maximal stability.</a:t>
            </a:r>
            <a:endParaRPr sz="4340"/>
          </a:p>
        </p:txBody>
      </p:sp>
      <p:sp>
        <p:nvSpPr>
          <p:cNvPr id="177" name="The x-axis scale values are incredibly close to absolute zero (e.g., -0.00004) implies the configurations that basically did not react to the strain.…"/>
          <p:cNvSpPr txBox="1"/>
          <p:nvPr/>
        </p:nvSpPr>
        <p:spPr>
          <a:xfrm>
            <a:off x="948930" y="9446173"/>
            <a:ext cx="22486140" cy="411073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marL="417873" indent="-417873" defTabSz="468306">
              <a:spcBef>
                <a:spcPts val="0"/>
              </a:spcBef>
              <a:buSzPct val="75000"/>
              <a:buChar char="•"/>
              <a:defRPr sz="3255">
                <a:solidFill>
                  <a:srgbClr val="000000"/>
                </a:solidFill>
              </a:defRPr>
            </a:pPr>
            <a:r>
              <a:t>The x-axis scale values are incredibly close to absolute zero (e.g., -0.00004) implies the configurations that basically did not react to the strain.</a:t>
            </a:r>
          </a:p>
          <a:p>
            <a:pPr marL="417873" indent="-417873" defTabSz="468306">
              <a:spcBef>
                <a:spcPts val="0"/>
              </a:spcBef>
              <a:buSzPct val="75000"/>
              <a:buChar char="•"/>
              <a:defRPr sz="3255">
                <a:solidFill>
                  <a:srgbClr val="000000"/>
                </a:solidFill>
              </a:defRPr>
            </a:pPr>
            <a:r>
              <a:t>Unlike the top anomalies, these highly stable systems are completely dominated by late transition metals: Fe-O, Ni-O, Co-O, and Pd-O.</a:t>
            </a:r>
          </a:p>
          <a:p>
            <a:pPr marL="417873" indent="-417873" defTabSz="468306">
              <a:spcBef>
                <a:spcPts val="0"/>
              </a:spcBef>
              <a:buSzPct val="75000"/>
              <a:buChar char="•"/>
              <a:defRPr sz="3255">
                <a:solidFill>
                  <a:srgbClr val="000000"/>
                </a:solidFill>
              </a:defRPr>
            </a:pPr>
            <a:r>
              <a:t>Physical Meaning: This plot proves that DFT-D3 performs perfectly for late transition metals. The electron clouds in metals like Iron and Nickel are more compact and less easily deformed than early transition metals. Because of this, the empirical D3 correction remains highly robust and physically consistent for these metals, regardless of how much their crystal lattices are expanded..</a:t>
            </a:r>
          </a:p>
        </p:txBody>
      </p:sp>
      <p:sp>
        <p:nvSpPr>
          <p:cNvPr id="178" name="This plot isolates the absolute worst-case scenarios in our dataset. Instead of a random spread of different chemicals, the extreme energy drops are overwhelmingly clustered in Ti-O (Titanium Oxide) systems (with a couple of exceptions like Nb-S and Zr-S"/>
          <p:cNvSpPr txBox="1"/>
          <p:nvPr/>
        </p:nvSpPr>
        <p:spPr>
          <a:xfrm>
            <a:off x="896391" y="3098982"/>
            <a:ext cx="22729926" cy="45283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marL="464058" indent="-464058" defTabSz="520065">
              <a:spcBef>
                <a:spcPts val="0"/>
              </a:spcBef>
              <a:buSzPct val="75000"/>
              <a:buChar char="•"/>
              <a:defRPr sz="3600">
                <a:solidFill>
                  <a:srgbClr val="000000"/>
                </a:solidFill>
              </a:defRPr>
            </a:pPr>
            <a:r>
              <a:t>This plot isolates the absolute worst-case scenarios in our dataset. Instead of a random spread of different chemicals, the extreme energy drops are overwhelmingly clustered in Ti-O (Titanium Oxide) systems (with a couple of exceptions like Nb-S and Zr-S).</a:t>
            </a:r>
          </a:p>
          <a:p>
            <a:pPr marL="464058" indent="-464058" defTabSz="520065">
              <a:spcBef>
                <a:spcPts val="0"/>
              </a:spcBef>
              <a:buSzPct val="75000"/>
              <a:buChar char="•"/>
              <a:defRPr sz="3600">
                <a:solidFill>
                  <a:srgbClr val="000000"/>
                </a:solidFill>
              </a:defRPr>
            </a:pPr>
            <a:r>
              <a:t>Physical Meaning: This proves that the anomalies are not random mathematical noise but these are chemically specific. When the unit cell of a Ti-O crystal is strained, the DFT-D3 method calculates a massive, unphysical spike in stabilizing dispersion energy. It indicates a systematic parametrical failure of the D3 method when dealing with the specific electron density and polarizability of Titanium oxides under structural deformation.</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Anomalies"/>
          <p:cNvSpPr txBox="1"/>
          <p:nvPr>
            <p:ph type="title"/>
          </p:nvPr>
        </p:nvSpPr>
        <p:spPr>
          <a:prstGeom prst="rect">
            <a:avLst/>
          </a:prstGeom>
        </p:spPr>
        <p:txBody>
          <a:bodyPr/>
          <a:lstStyle/>
          <a:p>
            <a:pPr/>
            <a:r>
              <a:t>Anomalies</a:t>
            </a:r>
          </a:p>
        </p:txBody>
      </p:sp>
      <p:sp>
        <p:nvSpPr>
          <p:cNvPr id="181" name="Extreme dispersion anomalies are seen to be heavily localized to early transition metals. Titanium (Ti), Yttrium (Y), and Vanadium (V) show massive   deviations.…"/>
          <p:cNvSpPr txBox="1"/>
          <p:nvPr>
            <p:ph type="body" sz="quarter" idx="1"/>
          </p:nvPr>
        </p:nvSpPr>
        <p:spPr>
          <a:xfrm>
            <a:off x="1015998" y="3098981"/>
            <a:ext cx="7048504" cy="9372601"/>
          </a:xfrm>
          <a:prstGeom prst="rect">
            <a:avLst/>
          </a:prstGeom>
        </p:spPr>
        <p:txBody>
          <a:bodyPr/>
          <a:lstStyle/>
          <a:p>
            <a:pPr marL="444500" indent="-444500" defTabSz="577850">
              <a:spcBef>
                <a:spcPts val="4100"/>
              </a:spcBef>
              <a:defRPr sz="3500"/>
            </a:pPr>
            <a:r>
              <a:t>Extreme dispersion anomalies are seen to be heavily localized to early transition metals. Titanium (Ti), Yttrium (Y), and Vanadium (V) show massive </a:t>
            </a:r>
            <a14:m>
              <m:oMath>
                <m:r>
                  <m:rPr>
                    <m:sty m:val="p"/>
                  </m:rPr>
                  <a:rPr xmlns:a="http://schemas.openxmlformats.org/drawingml/2006/main" sz="4200" i="1">
                    <a:solidFill>
                      <a:srgbClr val="747373"/>
                    </a:solidFill>
                    <a:latin typeface="Cambria Math" panose="02040503050406030204" pitchFamily="18" charset="0"/>
                  </a:rPr>
                  <m:t>Δ</m:t>
                </m:r>
                <m:r>
                  <a:rPr xmlns:a="http://schemas.openxmlformats.org/drawingml/2006/main" sz="4200" i="1">
                    <a:solidFill>
                      <a:srgbClr val="747373"/>
                    </a:solidFill>
                    <a:latin typeface="Cambria Math" panose="02040503050406030204" pitchFamily="18" charset="0"/>
                  </a:rPr>
                  <m:t>E</m:t>
                </m:r>
              </m:oMath>
            </a14:m>
            <a:r>
              <a:t> deviations.</a:t>
            </a:r>
          </a:p>
          <a:p>
            <a:pPr marL="444500" indent="-444500" defTabSz="577850">
              <a:spcBef>
                <a:spcPts val="4100"/>
              </a:spcBef>
              <a:defRPr sz="3500"/>
            </a:pPr>
            <a:r>
              <a:t>Late transition metals, specifically Nickel (Ni), Palladium (Pd), and Iron (Fe), show better absolute stability across all strained geometries.</a:t>
            </a:r>
          </a:p>
        </p:txBody>
      </p:sp>
      <p:pic>
        <p:nvPicPr>
          <p:cNvPr id="182" name="boxplot_delta_by_metal.png" descr="boxplot_delta_by_metal.png"/>
          <p:cNvPicPr>
            <a:picLocks noChangeAspect="1"/>
          </p:cNvPicPr>
          <p:nvPr/>
        </p:nvPicPr>
        <p:blipFill>
          <a:blip r:embed="rId2">
            <a:extLst/>
          </a:blip>
          <a:stretch>
            <a:fillRect/>
          </a:stretch>
        </p:blipFill>
        <p:spPr>
          <a:xfrm>
            <a:off x="7985830" y="3150009"/>
            <a:ext cx="16029674" cy="7568429"/>
          </a:xfrm>
          <a:prstGeom prst="rect">
            <a:avLst/>
          </a:prstGeom>
          <a:ln w="12700">
            <a:miter lim="400000"/>
          </a:ln>
        </p:spPr>
      </p:pic>
      <p:sp>
        <p:nvSpPr>
          <p:cNvPr id="183" name="Figure 6: Dispersion energy variance ( ) categorized by transition metal across all strained binary configurations."/>
          <p:cNvSpPr txBox="1"/>
          <p:nvPr/>
        </p:nvSpPr>
        <p:spPr>
          <a:xfrm>
            <a:off x="11198521" y="11093314"/>
            <a:ext cx="12010233" cy="123260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470534">
              <a:spcBef>
                <a:spcPts val="0"/>
              </a:spcBef>
              <a:defRPr sz="3300">
                <a:solidFill>
                  <a:srgbClr val="000000"/>
                </a:solidFill>
              </a:defRPr>
            </a:pPr>
            <a:r>
              <a:t>Figure 6: Dispersion energy variance (</a:t>
            </a:r>
            <a14:m>
              <m:oMath>
                <m:r>
                  <m:rPr>
                    <m:sty m:val="p"/>
                  </m:rPr>
                  <a:rPr xmlns:a="http://schemas.openxmlformats.org/drawingml/2006/main" sz="4000" i="1">
                    <a:solidFill>
                      <a:srgbClr val="000000"/>
                    </a:solidFill>
                    <a:latin typeface="Cambria Math" panose="02040503050406030204" pitchFamily="18" charset="0"/>
                  </a:rPr>
                  <m:t>Δ</m:t>
                </m:r>
                <m:r>
                  <a:rPr xmlns:a="http://schemas.openxmlformats.org/drawingml/2006/main" sz="4000" i="1">
                    <a:solidFill>
                      <a:srgbClr val="000000"/>
                    </a:solidFill>
                    <a:latin typeface="Cambria Math" panose="02040503050406030204" pitchFamily="18" charset="0"/>
                  </a:rPr>
                  <m:t>E</m:t>
                </m:r>
              </m:oMath>
            </a14:m>
            <a:r>
              <a:t>) categorized by transition metal across all strained binary configurations.</a:t>
            </a:r>
            <a:endParaRPr sz="3774"/>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Anomalies"/>
          <p:cNvSpPr txBox="1"/>
          <p:nvPr>
            <p:ph type="title"/>
          </p:nvPr>
        </p:nvSpPr>
        <p:spPr>
          <a:prstGeom prst="rect">
            <a:avLst/>
          </a:prstGeom>
        </p:spPr>
        <p:txBody>
          <a:bodyPr/>
          <a:lstStyle/>
          <a:p>
            <a:pPr/>
            <a:r>
              <a:t>Anomalies</a:t>
            </a:r>
          </a:p>
        </p:txBody>
      </p:sp>
      <p:sp>
        <p:nvSpPr>
          <p:cNvPr id="186" name="Figure 6: Dispersion energy variance ( ) categorized by transition metal across all strained binary configurations."/>
          <p:cNvSpPr txBox="1"/>
          <p:nvPr/>
        </p:nvSpPr>
        <p:spPr>
          <a:xfrm>
            <a:off x="1117600" y="2794181"/>
            <a:ext cx="22608580" cy="113021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511809">
              <a:spcBef>
                <a:spcPts val="0"/>
              </a:spcBef>
              <a:defRPr sz="3500">
                <a:solidFill>
                  <a:srgbClr val="000000"/>
                </a:solidFill>
              </a:defRPr>
            </a:pPr>
            <a:r>
              <a:t>Figure 6: Dispersion energy variance (</a:t>
            </a:r>
            <a14:m>
              <m:oMath>
                <m:r>
                  <m:rPr>
                    <m:sty m:val="p"/>
                  </m:rPr>
                  <a:rPr xmlns:a="http://schemas.openxmlformats.org/drawingml/2006/main" sz="4250" i="1">
                    <a:solidFill>
                      <a:srgbClr val="000000"/>
                    </a:solidFill>
                    <a:latin typeface="Cambria Math" panose="02040503050406030204" pitchFamily="18" charset="0"/>
                  </a:rPr>
                  <m:t>Δ</m:t>
                </m:r>
                <m:r>
                  <a:rPr xmlns:a="http://schemas.openxmlformats.org/drawingml/2006/main" sz="4250" i="1">
                    <a:solidFill>
                      <a:srgbClr val="000000"/>
                    </a:solidFill>
                    <a:latin typeface="Cambria Math" panose="02040503050406030204" pitchFamily="18" charset="0"/>
                  </a:rPr>
                  <m:t>E</m:t>
                </m:r>
              </m:oMath>
            </a14:m>
            <a:r>
              <a:t>) categorized by transition metal across all strained binary configurations.</a:t>
            </a:r>
            <a:endParaRPr sz="4057"/>
          </a:p>
        </p:txBody>
      </p:sp>
      <p:sp>
        <p:nvSpPr>
          <p:cNvPr id="187" name="The boxplot clearly shows that the massive negative deviations are almost entirely restricted to early transition metals like Titanium (Ti), Yttrium (Y), Zirconium (Zr), and Vanadium (V). Meanwhile, late transition metals like Nickel (Ni), Palladium (Pd)"/>
          <p:cNvSpPr txBox="1"/>
          <p:nvPr/>
        </p:nvSpPr>
        <p:spPr>
          <a:xfrm>
            <a:off x="1117600" y="3943439"/>
            <a:ext cx="22608580" cy="634584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marL="486156" indent="-486156" defTabSz="544830">
              <a:spcBef>
                <a:spcPts val="0"/>
              </a:spcBef>
              <a:buSzPct val="75000"/>
              <a:buChar char="•"/>
              <a:defRPr sz="3800">
                <a:solidFill>
                  <a:srgbClr val="000000"/>
                </a:solidFill>
              </a:defRPr>
            </a:pPr>
            <a:r>
              <a:t>The boxplot clearly shows that the massive negative deviations are almost entirely restricted to early transition metals like Titanium (Ti), Yttrium (Y), Zirconium (Zr), and Vanadium (V). Meanwhile, late transition metals like Nickel (Ni), Palladium (Pd), Iron (Fe), and Cobalt (Co) are tightly clustered at exactly </a:t>
            </a:r>
            <a14:m>
              <m:oMath>
                <m:r>
                  <a:rPr xmlns:a="http://schemas.openxmlformats.org/drawingml/2006/main" sz="4600" i="1">
                    <a:solidFill>
                      <a:srgbClr val="000000"/>
                    </a:solidFill>
                    <a:latin typeface="Cambria Math" panose="02040503050406030204" pitchFamily="18" charset="0"/>
                  </a:rPr>
                  <m:t>0.0</m:t>
                </m:r>
              </m:oMath>
            </a14:m>
            <a:r>
              <a:t>.</a:t>
            </a:r>
          </a:p>
          <a:p>
            <a:pPr defTabSz="544830">
              <a:spcBef>
                <a:spcPts val="0"/>
              </a:spcBef>
              <a:defRPr sz="3800">
                <a:solidFill>
                  <a:srgbClr val="000000"/>
                </a:solidFill>
              </a:defRPr>
            </a:pPr>
          </a:p>
          <a:p>
            <a:pPr marL="486156" indent="-486156" defTabSz="544830">
              <a:spcBef>
                <a:spcPts val="0"/>
              </a:spcBef>
              <a:buSzPct val="75000"/>
              <a:buChar char="•"/>
              <a:defRPr sz="3800">
                <a:solidFill>
                  <a:srgbClr val="000000"/>
                </a:solidFill>
              </a:defRPr>
            </a:pPr>
            <a:r>
              <a:t>Physical Meaning: Early transition metals have more diffuse, less valence d-orbital electrons and form highly polarizable bonds with oxygen. When these specific lattices are strained, the D3 empirical correction struggles to accurately model the dispersion interactions of these diffuse electron clouds, leading to mathematical over-corrections. Late transition metals have more compact, tightly bound electron configurations that the D3 method handles robustly, regardless of geometric strain.</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Anomalies"/>
          <p:cNvSpPr txBox="1"/>
          <p:nvPr>
            <p:ph type="title"/>
          </p:nvPr>
        </p:nvSpPr>
        <p:spPr>
          <a:prstGeom prst="rect">
            <a:avLst/>
          </a:prstGeom>
        </p:spPr>
        <p:txBody>
          <a:bodyPr/>
          <a:lstStyle/>
          <a:p>
            <a:pPr/>
            <a:r>
              <a:t>Anomalies</a:t>
            </a:r>
          </a:p>
        </p:txBody>
      </p:sp>
      <p:pic>
        <p:nvPicPr>
          <p:cNvPr id="190" name="top_40_strongest_dips.png" descr="top_40_strongest_dips.png"/>
          <p:cNvPicPr>
            <a:picLocks noChangeAspect="1"/>
          </p:cNvPicPr>
          <p:nvPr/>
        </p:nvPicPr>
        <p:blipFill>
          <a:blip r:embed="rId2">
            <a:extLst/>
          </a:blip>
          <a:stretch>
            <a:fillRect/>
          </a:stretch>
        </p:blipFill>
        <p:spPr>
          <a:xfrm>
            <a:off x="5835458" y="2901868"/>
            <a:ext cx="10602271" cy="9895928"/>
          </a:xfrm>
          <a:prstGeom prst="rect">
            <a:avLst/>
          </a:prstGeom>
          <a:ln w="12700">
            <a:miter lim="400000"/>
          </a:ln>
        </p:spPr>
      </p:pic>
      <p:sp>
        <p:nvSpPr>
          <p:cNvPr id="191" name="Ternary"/>
          <p:cNvSpPr txBox="1"/>
          <p:nvPr/>
        </p:nvSpPr>
        <p:spPr>
          <a:xfrm>
            <a:off x="10659471" y="12757190"/>
            <a:ext cx="21384124" cy="79146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defTabSz="652144">
              <a:spcBef>
                <a:spcPts val="0"/>
              </a:spcBef>
              <a:defRPr sz="4500">
                <a:solidFill>
                  <a:srgbClr val="000000"/>
                </a:solidFill>
              </a:defRPr>
            </a:lvl1pPr>
          </a:lstStyle>
          <a:p>
            <a:pPr/>
            <a:r>
              <a:t>Ternary</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Electronegativity as a Predictive Marker"/>
          <p:cNvSpPr txBox="1"/>
          <p:nvPr>
            <p:ph type="title"/>
          </p:nvPr>
        </p:nvSpPr>
        <p:spPr>
          <a:prstGeom prst="rect">
            <a:avLst/>
          </a:prstGeom>
        </p:spPr>
        <p:txBody>
          <a:bodyPr/>
          <a:lstStyle/>
          <a:p>
            <a:pPr/>
            <a:r>
              <a:t>Electronegativity as a Predictive Marker</a:t>
            </a:r>
          </a:p>
        </p:txBody>
      </p:sp>
      <p:sp>
        <p:nvSpPr>
          <p:cNvPr id="194" name="Established a direct inverse correlation between Pauli electronegativity and dispersion variance.…"/>
          <p:cNvSpPr txBox="1"/>
          <p:nvPr>
            <p:ph type="body" sz="half" idx="1"/>
          </p:nvPr>
        </p:nvSpPr>
        <p:spPr>
          <a:xfrm>
            <a:off x="1066799" y="3124200"/>
            <a:ext cx="8062816" cy="9372600"/>
          </a:xfrm>
          <a:prstGeom prst="rect">
            <a:avLst/>
          </a:prstGeom>
        </p:spPr>
        <p:txBody>
          <a:bodyPr/>
          <a:lstStyle/>
          <a:p>
            <a:pPr marL="501650" indent="-501650" defTabSz="652144">
              <a:spcBef>
                <a:spcPts val="4600"/>
              </a:spcBef>
              <a:defRPr sz="3900"/>
            </a:pPr>
            <a:r>
              <a:t>Established a direct inverse correlation between Pauli electronegativity and dispersion variance.</a:t>
            </a:r>
          </a:p>
          <a:p>
            <a:pPr marL="501650" indent="-501650" defTabSz="652144">
              <a:spcBef>
                <a:spcPts val="4600"/>
              </a:spcBef>
              <a:defRPr sz="3900"/>
            </a:pPr>
            <a:r>
              <a:t>Highly electropositive metals consistently yielded the most unpredictable dispersion landscapes under strain.</a:t>
            </a:r>
          </a:p>
          <a:p>
            <a:pPr marL="501650" indent="-501650" defTabSz="652144">
              <a:spcBef>
                <a:spcPts val="4600"/>
              </a:spcBef>
              <a:defRPr sz="3900"/>
            </a:pPr>
            <a:r>
              <a:t>High electronegativity reliably predicts stable DFT-D3 performance, offering a computational filter prior to running expensive calculations.</a:t>
            </a:r>
          </a:p>
        </p:txBody>
      </p:sp>
      <p:pic>
        <p:nvPicPr>
          <p:cNvPr id="195" name="binary_oxygen_mean_electronegativity_vs_delta.png" descr="binary_oxygen_mean_electronegativity_vs_delta.png"/>
          <p:cNvPicPr>
            <a:picLocks noChangeAspect="1"/>
          </p:cNvPicPr>
          <p:nvPr/>
        </p:nvPicPr>
        <p:blipFill>
          <a:blip r:embed="rId2">
            <a:extLst/>
          </a:blip>
          <a:stretch>
            <a:fillRect/>
          </a:stretch>
        </p:blipFill>
        <p:spPr>
          <a:xfrm>
            <a:off x="9208764" y="3124199"/>
            <a:ext cx="14522379" cy="9372601"/>
          </a:xfrm>
          <a:prstGeom prst="rect">
            <a:avLst/>
          </a:prstGeom>
          <a:ln w="12700">
            <a:miter lim="400000"/>
          </a:ln>
        </p:spPr>
      </p:pic>
      <p:sp>
        <p:nvSpPr>
          <p:cNvPr id="196" name="Figure 8: Correlation between Pauli electronegativity and mean dispersion energy variance ( ) for binary metal oxides."/>
          <p:cNvSpPr txBox="1"/>
          <p:nvPr/>
        </p:nvSpPr>
        <p:spPr>
          <a:xfrm>
            <a:off x="10204946" y="12426254"/>
            <a:ext cx="14090155" cy="10865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412750">
              <a:spcBef>
                <a:spcPts val="0"/>
              </a:spcBef>
              <a:defRPr sz="2900">
                <a:solidFill>
                  <a:srgbClr val="000000"/>
                </a:solidFill>
              </a:defRPr>
            </a:pPr>
            <a:r>
              <a:t>Figure 8: Correlation between Pauli electronegativity and mean dispersion energy variance (</a:t>
            </a:r>
            <a14:m>
              <m:oMath>
                <m:r>
                  <m:rPr>
                    <m:sty m:val="p"/>
                  </m:rPr>
                  <a:rPr xmlns:a="http://schemas.openxmlformats.org/drawingml/2006/main" sz="3500" i="1">
                    <a:solidFill>
                      <a:srgbClr val="000000"/>
                    </a:solidFill>
                    <a:latin typeface="Cambria Math" panose="02040503050406030204" pitchFamily="18" charset="0"/>
                  </a:rPr>
                  <m:t>Δ</m:t>
                </m:r>
                <m:r>
                  <a:rPr xmlns:a="http://schemas.openxmlformats.org/drawingml/2006/main" sz="3500" i="1">
                    <a:solidFill>
                      <a:srgbClr val="000000"/>
                    </a:solidFill>
                    <a:latin typeface="Cambria Math" panose="02040503050406030204" pitchFamily="18" charset="0"/>
                  </a:rPr>
                  <m:t>E</m:t>
                </m:r>
              </m:oMath>
            </a14:m>
            <a:r>
              <a:t>) for binary metal oxides.</a:t>
            </a:r>
            <a:endParaRPr sz="3302"/>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Electronegativity as a Predictive Marker"/>
          <p:cNvSpPr txBox="1"/>
          <p:nvPr>
            <p:ph type="title"/>
          </p:nvPr>
        </p:nvSpPr>
        <p:spPr>
          <a:prstGeom prst="rect">
            <a:avLst/>
          </a:prstGeom>
        </p:spPr>
        <p:txBody>
          <a:bodyPr/>
          <a:lstStyle/>
          <a:p>
            <a:pPr/>
            <a:r>
              <a:t>Electronegativity as a Predictive Marker</a:t>
            </a:r>
          </a:p>
        </p:txBody>
      </p:sp>
      <p:sp>
        <p:nvSpPr>
          <p:cNvPr id="199" name="Figure 8: Correlation between Pauli electronegativity and mean dispersion energy variance ( ) for binary metal oxides."/>
          <p:cNvSpPr txBox="1"/>
          <p:nvPr/>
        </p:nvSpPr>
        <p:spPr>
          <a:xfrm>
            <a:off x="1086346" y="2926655"/>
            <a:ext cx="21923772" cy="156418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619125">
              <a:spcBef>
                <a:spcPts val="0"/>
              </a:spcBef>
              <a:defRPr sz="4300">
                <a:solidFill>
                  <a:srgbClr val="000000"/>
                </a:solidFill>
              </a:defRPr>
            </a:pPr>
            <a:r>
              <a:t>Figure 8: Correlation between Pauli electronegativity and mean dispersion energy variance (</a:t>
            </a:r>
            <a14:m>
              <m:oMath>
                <m:r>
                  <m:rPr>
                    <m:sty m:val="p"/>
                  </m:rPr>
                  <a:rPr xmlns:a="http://schemas.openxmlformats.org/drawingml/2006/main" sz="5300" i="1">
                    <a:solidFill>
                      <a:srgbClr val="000000"/>
                    </a:solidFill>
                    <a:latin typeface="Cambria Math" panose="02040503050406030204" pitchFamily="18" charset="0"/>
                  </a:rPr>
                  <m:t>Δ</m:t>
                </m:r>
                <m:r>
                  <a:rPr xmlns:a="http://schemas.openxmlformats.org/drawingml/2006/main" sz="5300" i="1">
                    <a:solidFill>
                      <a:srgbClr val="000000"/>
                    </a:solidFill>
                    <a:latin typeface="Cambria Math" panose="02040503050406030204" pitchFamily="18" charset="0"/>
                  </a:rPr>
                  <m:t>E</m:t>
                </m:r>
              </m:oMath>
            </a14:m>
            <a:r>
              <a:t>) for binary metal oxides.</a:t>
            </a:r>
            <a:endParaRPr sz="5000"/>
          </a:p>
        </p:txBody>
      </p:sp>
      <p:sp>
        <p:nvSpPr>
          <p:cNvPr id="200" name="Inverse Correlation: The scatter plot reveals a strong trend: metals with lower electronegativity values (the left side of the X-axis, typically  ) correspond to the most extreme, negative mean   values on the Y-axis. As electronegativity increases, the "/>
          <p:cNvSpPr txBox="1"/>
          <p:nvPr>
            <p:ph type="body" idx="1"/>
          </p:nvPr>
        </p:nvSpPr>
        <p:spPr>
          <a:xfrm>
            <a:off x="1143000" y="4642363"/>
            <a:ext cx="22252698" cy="7782423"/>
          </a:xfrm>
          <a:prstGeom prst="rect">
            <a:avLst/>
          </a:prstGeom>
        </p:spPr>
        <p:txBody>
          <a:bodyPr/>
          <a:lstStyle/>
          <a:p>
            <a:pPr marL="552450" indent="-552450" defTabSz="718184">
              <a:spcBef>
                <a:spcPts val="5100"/>
              </a:spcBef>
              <a:defRPr sz="4300"/>
            </a:pPr>
            <a:r>
              <a:t>Inverse Correlation: The scatter plot reveals a strong trend: metals with lower electronegativity values (the left side of the X-axis, typically </a:t>
            </a:r>
            <a14:m>
              <m:oMath>
                <m:r>
                  <a:rPr xmlns:a="http://schemas.openxmlformats.org/drawingml/2006/main" sz="5300" i="1">
                    <a:solidFill>
                      <a:srgbClr val="747373"/>
                    </a:solidFill>
                    <a:latin typeface="Cambria Math" panose="02040503050406030204" pitchFamily="18" charset="0"/>
                  </a:rPr>
                  <m:t>&lt;</m:t>
                </m:r>
                <m:r>
                  <a:rPr xmlns:a="http://schemas.openxmlformats.org/drawingml/2006/main" sz="5300" i="1">
                    <a:solidFill>
                      <a:srgbClr val="747373"/>
                    </a:solidFill>
                    <a:latin typeface="Cambria Math" panose="02040503050406030204" pitchFamily="18" charset="0"/>
                  </a:rPr>
                  <m:t>1.6</m:t>
                </m:r>
              </m:oMath>
            </a14:m>
            <a:r>
              <a:t>) correspond to the most extreme, negative mean </a:t>
            </a:r>
            <a14:m>
              <m:oMath>
                <m:r>
                  <m:rPr>
                    <m:sty m:val="p"/>
                  </m:rPr>
                  <a:rPr xmlns:a="http://schemas.openxmlformats.org/drawingml/2006/main" sz="5300" i="1">
                    <a:solidFill>
                      <a:srgbClr val="747373"/>
                    </a:solidFill>
                    <a:latin typeface="Cambria Math" panose="02040503050406030204" pitchFamily="18" charset="0"/>
                  </a:rPr>
                  <m:t>Δ</m:t>
                </m:r>
                <m:r>
                  <a:rPr xmlns:a="http://schemas.openxmlformats.org/drawingml/2006/main" sz="5300" i="1">
                    <a:solidFill>
                      <a:srgbClr val="747373"/>
                    </a:solidFill>
                    <a:latin typeface="Cambria Math" panose="02040503050406030204" pitchFamily="18" charset="0"/>
                  </a:rPr>
                  <m:t>E</m:t>
                </m:r>
              </m:oMath>
            </a14:m>
            <a:r>
              <a:t> values on the Y-axis. As electronegativity increases, the </a:t>
            </a:r>
            <a14:m>
              <m:oMath>
                <m:r>
                  <m:rPr>
                    <m:sty m:val="p"/>
                  </m:rPr>
                  <a:rPr xmlns:a="http://schemas.openxmlformats.org/drawingml/2006/main" sz="5300" i="1">
                    <a:solidFill>
                      <a:srgbClr val="747373"/>
                    </a:solidFill>
                    <a:latin typeface="Cambria Math" panose="02040503050406030204" pitchFamily="18" charset="0"/>
                  </a:rPr>
                  <m:t>Δ</m:t>
                </m:r>
                <m:r>
                  <a:rPr xmlns:a="http://schemas.openxmlformats.org/drawingml/2006/main" sz="5300" i="1">
                    <a:solidFill>
                      <a:srgbClr val="747373"/>
                    </a:solidFill>
                    <a:latin typeface="Cambria Math" panose="02040503050406030204" pitchFamily="18" charset="0"/>
                  </a:rPr>
                  <m:t>E</m:t>
                </m:r>
              </m:oMath>
            </a14:m>
            <a:r>
              <a:t> values quickly approach zero.</a:t>
            </a:r>
          </a:p>
          <a:p>
            <a:pPr marL="552450" indent="-552450" defTabSz="718184">
              <a:spcBef>
                <a:spcPts val="5100"/>
              </a:spcBef>
              <a:defRPr sz="4300"/>
            </a:pPr>
            <a:r>
              <a:t>Physical Meaning: Highly electropositive metals (low electronegativity, like Ti and Y) readily give up electron density to oxygen, creating highly ionic lattices. Under strain, the spatial geometry of these highly ionic networks shifts drastically. The plot proves that DFT-D3 is fundamentally less reliable for highly electropositive, ionic lattices under perturbation, whereas it is highly stable for more electronegative, covalently-leaning metals. </a:t>
            </a:r>
            <a:r>
              <a:rPr u="sng"/>
              <a:t>This allows us to use electronegativity as a predictive filter for computational reliability.</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Geometric Influence &amp; Packing Efficiency"/>
          <p:cNvSpPr txBox="1"/>
          <p:nvPr>
            <p:ph type="title"/>
          </p:nvPr>
        </p:nvSpPr>
        <p:spPr>
          <a:prstGeom prst="rect">
            <a:avLst/>
          </a:prstGeom>
        </p:spPr>
        <p:txBody>
          <a:bodyPr/>
          <a:lstStyle/>
          <a:p>
            <a:pPr/>
            <a:r>
              <a:t>Geometric Influence &amp; Packing Efficiency</a:t>
            </a:r>
          </a:p>
        </p:txBody>
      </p:sp>
      <p:sp>
        <p:nvSpPr>
          <p:cNvPr id="203" name="Evaluated structural packing fractions against dispersion variance to isolate geometric artifacts.…"/>
          <p:cNvSpPr txBox="1"/>
          <p:nvPr>
            <p:ph type="body" sz="half" idx="1"/>
          </p:nvPr>
        </p:nvSpPr>
        <p:spPr>
          <a:xfrm>
            <a:off x="1066799" y="3124200"/>
            <a:ext cx="8062816" cy="9372600"/>
          </a:xfrm>
          <a:prstGeom prst="rect">
            <a:avLst/>
          </a:prstGeom>
        </p:spPr>
        <p:txBody>
          <a:bodyPr/>
          <a:lstStyle/>
          <a:p>
            <a:pPr marL="565150" indent="-565150" defTabSz="734694">
              <a:spcBef>
                <a:spcPts val="5200"/>
              </a:spcBef>
              <a:defRPr sz="4400"/>
            </a:pPr>
            <a:r>
              <a:t>Evaluated structural packing fractions against dispersion variance to isolate geometric artifacts.</a:t>
            </a:r>
          </a:p>
          <a:p>
            <a:pPr marL="565150" indent="-565150" defTabSz="734694">
              <a:spcBef>
                <a:spcPts val="5200"/>
              </a:spcBef>
              <a:defRPr sz="4400"/>
            </a:pPr>
            <a:r>
              <a:t>The Titanium Case Study: Within highly volatile systems like Ti-O, specific packing configurations worsen the </a:t>
            </a:r>
            <a14:m>
              <m:oMath>
                <m:r>
                  <m:rPr>
                    <m:sty m:val="p"/>
                  </m:rPr>
                  <a:rPr xmlns:a="http://schemas.openxmlformats.org/drawingml/2006/main" sz="5400" i="1">
                    <a:solidFill>
                      <a:srgbClr val="747373"/>
                    </a:solidFill>
                    <a:latin typeface="Cambria Math" panose="02040503050406030204" pitchFamily="18" charset="0"/>
                  </a:rPr>
                  <m:t>Δ</m:t>
                </m:r>
                <m:r>
                  <a:rPr xmlns:a="http://schemas.openxmlformats.org/drawingml/2006/main" sz="5400" i="1">
                    <a:solidFill>
                      <a:srgbClr val="747373"/>
                    </a:solidFill>
                    <a:latin typeface="Cambria Math" panose="02040503050406030204" pitchFamily="18" charset="0"/>
                  </a:rPr>
                  <m:t>E</m:t>
                </m:r>
              </m:oMath>
            </a14:m>
            <a:r>
              <a:t> drop, proving the anomaly is coupled to atomic proximity.</a:t>
            </a:r>
            <a:endParaRPr sz="5095"/>
          </a:p>
        </p:txBody>
      </p:sp>
      <p:pic>
        <p:nvPicPr>
          <p:cNvPr id="204" name="ti_metal_packing_vs_delta_adjusted.png" descr="ti_metal_packing_vs_delta_adjusted.png"/>
          <p:cNvPicPr>
            <a:picLocks noChangeAspect="1"/>
          </p:cNvPicPr>
          <p:nvPr/>
        </p:nvPicPr>
        <p:blipFill>
          <a:blip r:embed="rId2">
            <a:extLst/>
          </a:blip>
          <a:stretch>
            <a:fillRect/>
          </a:stretch>
        </p:blipFill>
        <p:spPr>
          <a:xfrm>
            <a:off x="9765276" y="3474473"/>
            <a:ext cx="13987185" cy="8672054"/>
          </a:xfrm>
          <a:prstGeom prst="rect">
            <a:avLst/>
          </a:prstGeom>
          <a:ln w="12700">
            <a:miter lim="400000"/>
          </a:ln>
        </p:spPr>
      </p:pic>
      <p:sp>
        <p:nvSpPr>
          <p:cNvPr id="205" name="Figure 9: Correlation between crystal packing efficiency and dispersion energy variance ( ) strictly for Titanium-containing configurations."/>
          <p:cNvSpPr txBox="1"/>
          <p:nvPr/>
        </p:nvSpPr>
        <p:spPr>
          <a:xfrm>
            <a:off x="11123711" y="11912931"/>
            <a:ext cx="12539465" cy="14990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454025">
              <a:spcBef>
                <a:spcPts val="0"/>
              </a:spcBef>
              <a:defRPr sz="3100">
                <a:solidFill>
                  <a:srgbClr val="000000"/>
                </a:solidFill>
              </a:defRPr>
            </a:pPr>
            <a:r>
              <a:t>Figure 9: Correlation between crystal packing efficiency and dispersion energy variance (</a:t>
            </a:r>
            <a14:m>
              <m:oMath>
                <m:r>
                  <m:rPr>
                    <m:sty m:val="p"/>
                  </m:rPr>
                  <a:rPr xmlns:a="http://schemas.openxmlformats.org/drawingml/2006/main" sz="3800" i="1">
                    <a:solidFill>
                      <a:srgbClr val="000000"/>
                    </a:solidFill>
                    <a:latin typeface="Cambria Math" panose="02040503050406030204" pitchFamily="18" charset="0"/>
                  </a:rPr>
                  <m:t>Δ</m:t>
                </m:r>
                <m:r>
                  <a:rPr xmlns:a="http://schemas.openxmlformats.org/drawingml/2006/main" sz="3800" i="1">
                    <a:solidFill>
                      <a:srgbClr val="000000"/>
                    </a:solidFill>
                    <a:latin typeface="Cambria Math" panose="02040503050406030204" pitchFamily="18" charset="0"/>
                  </a:rPr>
                  <m:t>E</m:t>
                </m:r>
              </m:oMath>
            </a14:m>
            <a:r>
              <a:t>) strictly for Titanium-containing configurations.</a:t>
            </a:r>
            <a:endParaRPr sz="3585"/>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Geometric Influence &amp; Packing Efficiency"/>
          <p:cNvSpPr txBox="1"/>
          <p:nvPr>
            <p:ph type="title"/>
          </p:nvPr>
        </p:nvSpPr>
        <p:spPr>
          <a:prstGeom prst="rect">
            <a:avLst/>
          </a:prstGeom>
        </p:spPr>
        <p:txBody>
          <a:bodyPr/>
          <a:lstStyle/>
          <a:p>
            <a:pPr/>
            <a:r>
              <a:t>Geometric Influence &amp; Packing Efficiency</a:t>
            </a:r>
          </a:p>
        </p:txBody>
      </p:sp>
      <p:sp>
        <p:nvSpPr>
          <p:cNvPr id="208" name="Figure 9: Correlation between crystal packing efficiency and dispersion energy variance ( ) strictly for Titanium-containing configurations."/>
          <p:cNvSpPr txBox="1"/>
          <p:nvPr/>
        </p:nvSpPr>
        <p:spPr>
          <a:xfrm>
            <a:off x="1116110" y="2895931"/>
            <a:ext cx="21646658" cy="14990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586104">
              <a:spcBef>
                <a:spcPts val="0"/>
              </a:spcBef>
              <a:defRPr sz="4100">
                <a:solidFill>
                  <a:srgbClr val="000000"/>
                </a:solidFill>
              </a:defRPr>
            </a:pPr>
            <a:r>
              <a:t>Figure 9: Correlation between crystal packing efficiency and dispersion energy variance (</a:t>
            </a:r>
            <a14:m>
              <m:oMath>
                <m:r>
                  <m:rPr>
                    <m:sty m:val="p"/>
                  </m:rPr>
                  <a:rPr xmlns:a="http://schemas.openxmlformats.org/drawingml/2006/main" sz="5000" i="1">
                    <a:solidFill>
                      <a:srgbClr val="000000"/>
                    </a:solidFill>
                    <a:latin typeface="Cambria Math" panose="02040503050406030204" pitchFamily="18" charset="0"/>
                  </a:rPr>
                  <m:t>Δ</m:t>
                </m:r>
                <m:r>
                  <a:rPr xmlns:a="http://schemas.openxmlformats.org/drawingml/2006/main" sz="5000" i="1">
                    <a:solidFill>
                      <a:srgbClr val="000000"/>
                    </a:solidFill>
                    <a:latin typeface="Cambria Math" panose="02040503050406030204" pitchFamily="18" charset="0"/>
                  </a:rPr>
                  <m:t>E</m:t>
                </m:r>
              </m:oMath>
            </a14:m>
            <a:r>
              <a:t>) strictly for Titanium-containing configurations.</a:t>
            </a:r>
            <a:endParaRPr sz="4717"/>
          </a:p>
        </p:txBody>
      </p:sp>
      <p:sp>
        <p:nvSpPr>
          <p:cNvPr id="209" name="For Titanium, there is a clear picture of massive negative   values, particularly clustered in the moderately packed regimes (efficiencies between 0.35 and 0.55).…"/>
          <p:cNvSpPr txBox="1"/>
          <p:nvPr>
            <p:ph type="body" idx="1"/>
          </p:nvPr>
        </p:nvSpPr>
        <p:spPr>
          <a:xfrm>
            <a:off x="1142999" y="4642363"/>
            <a:ext cx="22252700" cy="6336275"/>
          </a:xfrm>
          <a:prstGeom prst="rect">
            <a:avLst/>
          </a:prstGeom>
        </p:spPr>
        <p:txBody>
          <a:bodyPr/>
          <a:lstStyle/>
          <a:p>
            <a:pPr marL="501650" indent="-501650" defTabSz="652144">
              <a:spcBef>
                <a:spcPts val="4600"/>
              </a:spcBef>
              <a:defRPr sz="3900"/>
            </a:pPr>
            <a:r>
              <a:t>For Titanium, there is a clear picture of massive negative </a:t>
            </a:r>
            <a14:m>
              <m:oMath>
                <m:r>
                  <m:rPr>
                    <m:sty m:val="p"/>
                  </m:rPr>
                  <a:rPr xmlns:a="http://schemas.openxmlformats.org/drawingml/2006/main" sz="4800" i="1">
                    <a:solidFill>
                      <a:srgbClr val="747373"/>
                    </a:solidFill>
                    <a:latin typeface="Cambria Math" panose="02040503050406030204" pitchFamily="18" charset="0"/>
                  </a:rPr>
                  <m:t>Δ</m:t>
                </m:r>
                <m:r>
                  <a:rPr xmlns:a="http://schemas.openxmlformats.org/drawingml/2006/main" sz="4800" i="1">
                    <a:solidFill>
                      <a:srgbClr val="747373"/>
                    </a:solidFill>
                    <a:latin typeface="Cambria Math" panose="02040503050406030204" pitchFamily="18" charset="0"/>
                  </a:rPr>
                  <m:t>E</m:t>
                </m:r>
              </m:oMath>
            </a14:m>
            <a:r>
              <a:t> values, particularly clustered in the moderately packed regimes (efficiencies between 0.35 and 0.55).</a:t>
            </a:r>
          </a:p>
          <a:p>
            <a:pPr marL="501650" indent="-501650" defTabSz="652144">
              <a:spcBef>
                <a:spcPts val="4600"/>
              </a:spcBef>
              <a:defRPr sz="3900"/>
            </a:pPr>
            <a:r>
              <a:t>Physical Meaning: Because Titanium has highly diffuse, polarizable valence electrons, the exact spacing between atoms dictates how severely the DFT-D3 fails. In these less tightly packed lattices, applied strain causes larger relative shifts in interatomic void space. The D3 algorithm misinterprets these shifting voids, generating massive, unphysical spikes in stabilizing dispersion energy.</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Geometric Influence &amp; Packing Efficiency"/>
          <p:cNvSpPr txBox="1"/>
          <p:nvPr>
            <p:ph type="title"/>
          </p:nvPr>
        </p:nvSpPr>
        <p:spPr>
          <a:prstGeom prst="rect">
            <a:avLst/>
          </a:prstGeom>
        </p:spPr>
        <p:txBody>
          <a:bodyPr/>
          <a:lstStyle/>
          <a:p>
            <a:pPr/>
            <a:r>
              <a:t>Geometric Influence &amp; Packing Efficiency</a:t>
            </a:r>
          </a:p>
        </p:txBody>
      </p:sp>
      <p:pic>
        <p:nvPicPr>
          <p:cNvPr id="212" name="configuration_level_packing_vs_delta.png" descr="configuration_level_packing_vs_delta.png"/>
          <p:cNvPicPr>
            <a:picLocks noChangeAspect="1"/>
          </p:cNvPicPr>
          <p:nvPr/>
        </p:nvPicPr>
        <p:blipFill>
          <a:blip r:embed="rId2">
            <a:extLst/>
          </a:blip>
          <a:stretch>
            <a:fillRect/>
          </a:stretch>
        </p:blipFill>
        <p:spPr>
          <a:xfrm>
            <a:off x="11447861" y="3276780"/>
            <a:ext cx="12005858" cy="7933485"/>
          </a:xfrm>
          <a:prstGeom prst="rect">
            <a:avLst/>
          </a:prstGeom>
          <a:ln w="12700">
            <a:miter lim="400000"/>
          </a:ln>
        </p:spPr>
      </p:pic>
      <p:pic>
        <p:nvPicPr>
          <p:cNvPr id="213" name="configuration_level_packing_vs_delta.png" descr="configuration_level_packing_vs_delta.png"/>
          <p:cNvPicPr>
            <a:picLocks noChangeAspect="1"/>
          </p:cNvPicPr>
          <p:nvPr/>
        </p:nvPicPr>
        <p:blipFill>
          <a:blip r:embed="rId3">
            <a:extLst/>
          </a:blip>
          <a:stretch>
            <a:fillRect/>
          </a:stretch>
        </p:blipFill>
        <p:spPr>
          <a:xfrm>
            <a:off x="443369" y="3456134"/>
            <a:ext cx="10912616" cy="7219178"/>
          </a:xfrm>
          <a:prstGeom prst="rect">
            <a:avLst/>
          </a:prstGeom>
          <a:ln w="12700">
            <a:miter lim="400000"/>
          </a:ln>
        </p:spPr>
      </p:pic>
      <p:sp>
        <p:nvSpPr>
          <p:cNvPr id="214" name="Figure 10: Configuration-level correlation between crystal packing efficiency and dispersion energy variance ( )."/>
          <p:cNvSpPr txBox="1"/>
          <p:nvPr/>
        </p:nvSpPr>
        <p:spPr>
          <a:xfrm>
            <a:off x="1053404" y="11356313"/>
            <a:ext cx="10798773" cy="11667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defTabSz="445769">
              <a:spcBef>
                <a:spcPts val="0"/>
              </a:spcBef>
              <a:defRPr sz="3100">
                <a:solidFill>
                  <a:srgbClr val="000000"/>
                </a:solidFill>
              </a:defRPr>
            </a:pPr>
            <a:r>
              <a:t>Figure 10: Configuration-level correlation between crystal packing efficiency and dispersion energy variance (</a:t>
            </a:r>
            <a14:m>
              <m:oMath>
                <m:r>
                  <m:rPr>
                    <m:sty m:val="p"/>
                  </m:rPr>
                  <a:rPr xmlns:a="http://schemas.openxmlformats.org/drawingml/2006/main" sz="3800" i="1">
                    <a:solidFill>
                      <a:srgbClr val="000000"/>
                    </a:solidFill>
                    <a:latin typeface="Cambria Math" panose="02040503050406030204" pitchFamily="18" charset="0"/>
                  </a:rPr>
                  <m:t>Δ</m:t>
                </m:r>
                <m:r>
                  <a:rPr xmlns:a="http://schemas.openxmlformats.org/drawingml/2006/main" sz="3800" i="1">
                    <a:solidFill>
                      <a:srgbClr val="000000"/>
                    </a:solidFill>
                    <a:latin typeface="Cambria Math" panose="02040503050406030204" pitchFamily="18" charset="0"/>
                  </a:rPr>
                  <m:t>E</m:t>
                </m:r>
              </m:oMath>
            </a14:m>
            <a:r>
              <a:t>).</a:t>
            </a:r>
            <a:endParaRPr sz="3585"/>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ome Critical Strain Thresholds"/>
          <p:cNvSpPr txBox="1"/>
          <p:nvPr>
            <p:ph type="title"/>
          </p:nvPr>
        </p:nvSpPr>
        <p:spPr>
          <a:prstGeom prst="rect">
            <a:avLst/>
          </a:prstGeom>
        </p:spPr>
        <p:txBody>
          <a:bodyPr/>
          <a:lstStyle/>
          <a:p>
            <a:pPr/>
            <a:r>
              <a:t>Some Critical Strain Thresholds</a:t>
            </a:r>
          </a:p>
        </p:txBody>
      </p:sp>
      <p:sp>
        <p:nvSpPr>
          <p:cNvPr id="217" name="Identified the specific lattice scaling percentages (%) that trigger maximum dispersion deviation before structural failure.…"/>
          <p:cNvSpPr txBox="1"/>
          <p:nvPr>
            <p:ph type="body" sz="quarter" idx="1"/>
          </p:nvPr>
        </p:nvSpPr>
        <p:spPr>
          <a:xfrm>
            <a:off x="1066800" y="3124200"/>
            <a:ext cx="6047879" cy="9372601"/>
          </a:xfrm>
          <a:prstGeom prst="rect">
            <a:avLst/>
          </a:prstGeom>
        </p:spPr>
        <p:txBody>
          <a:bodyPr/>
          <a:lstStyle/>
          <a:p>
            <a:pPr marL="546100" indent="-546100" defTabSz="709930">
              <a:spcBef>
                <a:spcPts val="5000"/>
              </a:spcBef>
              <a:defRPr sz="4300"/>
            </a:pPr>
            <a:r>
              <a:t>Identified the specific lattice scaling percentages (%) that trigger maximum dispersion deviation before structural failure.</a:t>
            </a:r>
          </a:p>
          <a:p>
            <a:pPr marL="546100" indent="-546100" defTabSz="709930">
              <a:spcBef>
                <a:spcPts val="5000"/>
              </a:spcBef>
              <a:defRPr sz="4300"/>
            </a:pPr>
            <a:r>
              <a:t>Binary and ternary networks exhibit shifted strain-response profiles, indicating differing limits of parametrical reliability.</a:t>
            </a:r>
          </a:p>
        </p:txBody>
      </p:sp>
      <p:pic>
        <p:nvPicPr>
          <p:cNvPr id="218" name="binary_max_delta_points.png" descr="binary_max_delta_points.png"/>
          <p:cNvPicPr>
            <a:picLocks noChangeAspect="1"/>
          </p:cNvPicPr>
          <p:nvPr/>
        </p:nvPicPr>
        <p:blipFill>
          <a:blip r:embed="rId2">
            <a:extLst/>
          </a:blip>
          <a:stretch>
            <a:fillRect/>
          </a:stretch>
        </p:blipFill>
        <p:spPr>
          <a:xfrm>
            <a:off x="7173463" y="3867682"/>
            <a:ext cx="16530295" cy="6996636"/>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Summary"/>
          <p:cNvSpPr txBox="1"/>
          <p:nvPr>
            <p:ph type="title"/>
          </p:nvPr>
        </p:nvSpPr>
        <p:spPr>
          <a:prstGeom prst="rect">
            <a:avLst/>
          </a:prstGeom>
        </p:spPr>
        <p:txBody>
          <a:bodyPr/>
          <a:lstStyle/>
          <a:p>
            <a:pPr/>
            <a:r>
              <a:t>Summary</a:t>
            </a:r>
          </a:p>
        </p:txBody>
      </p:sp>
      <p:sp>
        <p:nvSpPr>
          <p:cNvPr id="221" name="DFT-D3 provides stable, reliable dispersion corrections for late d-block metal oxides under structural perturbation.…"/>
          <p:cNvSpPr txBox="1"/>
          <p:nvPr>
            <p:ph type="body" idx="1"/>
          </p:nvPr>
        </p:nvSpPr>
        <p:spPr>
          <a:xfrm>
            <a:off x="1066799" y="3124200"/>
            <a:ext cx="22513728" cy="9372600"/>
          </a:xfrm>
          <a:prstGeom prst="rect">
            <a:avLst/>
          </a:prstGeom>
        </p:spPr>
        <p:txBody>
          <a:bodyPr/>
          <a:lstStyle/>
          <a:p>
            <a:pPr/>
            <a:r>
              <a:t>DFT-D3 provides stable, reliable dispersion corrections for late d-block metal oxides under structural perturbation.</a:t>
            </a:r>
          </a:p>
          <a:p>
            <a:pPr/>
            <a:r>
              <a:t>The methodology chosen experiences severe mathematical breakdowns when modeling early d-block oxides (notably Titanium systems) under strain.</a:t>
            </a:r>
          </a:p>
          <a:p>
            <a:pPr>
              <a:defRPr u="sng"/>
            </a:pPr>
            <a:r>
              <a:t>Takeaway</a:t>
            </a:r>
            <a:r>
              <a:rPr u="none"/>
              <a:t>: Both structural electronegativity and initial packing efficiency can serve as predictive filters to flag systems requiring advanced dispersion methodologies (e.g., TS or MBD) before executing large-scale scans.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ModernPortfolio">
  <a:themeElements>
    <a:clrScheme name="ModernPortfolio">
      <a:dk1>
        <a:srgbClr val="747474"/>
      </a:dk1>
      <a:lt1>
        <a:srgbClr val="FFFFFF"/>
      </a:lt1>
      <a:dk2>
        <a:srgbClr val="A7A7A7"/>
      </a:dk2>
      <a:lt2>
        <a:srgbClr val="535353"/>
      </a:lt2>
      <a:accent1>
        <a:srgbClr val="557E8A"/>
      </a:accent1>
      <a:accent2>
        <a:srgbClr val="88885A"/>
      </a:accent2>
      <a:accent3>
        <a:srgbClr val="B29E85"/>
      </a:accent3>
      <a:accent4>
        <a:srgbClr val="BB7B52"/>
      </a:accent4>
      <a:accent5>
        <a:srgbClr val="CF7F66"/>
      </a:accent5>
      <a:accent6>
        <a:srgbClr val="62647B"/>
      </a:accent6>
      <a:hlink>
        <a:srgbClr val="0000FF"/>
      </a:hlink>
      <a:folHlink>
        <a:srgbClr val="FF00FF"/>
      </a:folHlink>
    </a:clrScheme>
    <a:fontScheme name="ModernPortfolio">
      <a:majorFont>
        <a:latin typeface="Helvetica"/>
        <a:ea typeface="Helvetica"/>
        <a:cs typeface="Helvetica"/>
      </a:majorFont>
      <a:minorFont>
        <a:latin typeface="Helvetica Neue"/>
        <a:ea typeface="Helvetica Neue"/>
        <a:cs typeface="Helvetica Neue"/>
      </a:minorFont>
    </a:fontScheme>
    <a:fmtScheme name="ModernPortfol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ModernPortfolio">
  <a:themeElements>
    <a:clrScheme name="ModernPortfolio">
      <a:dk1>
        <a:srgbClr val="000000"/>
      </a:dk1>
      <a:lt1>
        <a:srgbClr val="FFFFFF"/>
      </a:lt1>
      <a:dk2>
        <a:srgbClr val="A7A7A7"/>
      </a:dk2>
      <a:lt2>
        <a:srgbClr val="535353"/>
      </a:lt2>
      <a:accent1>
        <a:srgbClr val="557E8A"/>
      </a:accent1>
      <a:accent2>
        <a:srgbClr val="88885A"/>
      </a:accent2>
      <a:accent3>
        <a:srgbClr val="B29E85"/>
      </a:accent3>
      <a:accent4>
        <a:srgbClr val="BB7B52"/>
      </a:accent4>
      <a:accent5>
        <a:srgbClr val="CF7F66"/>
      </a:accent5>
      <a:accent6>
        <a:srgbClr val="62647B"/>
      </a:accent6>
      <a:hlink>
        <a:srgbClr val="0000FF"/>
      </a:hlink>
      <a:folHlink>
        <a:srgbClr val="FF00FF"/>
      </a:folHlink>
    </a:clrScheme>
    <a:fontScheme name="ModernPortfolio">
      <a:majorFont>
        <a:latin typeface="Helvetica"/>
        <a:ea typeface="Helvetica"/>
        <a:cs typeface="Helvetica"/>
      </a:majorFont>
      <a:minorFont>
        <a:latin typeface="Helvetica Neue"/>
        <a:ea typeface="Helvetica Neue"/>
        <a:cs typeface="Helvetica Neue"/>
      </a:minorFont>
    </a:fontScheme>
    <a:fmtScheme name="ModernPortfol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747474"/>
            </a:solidFill>
            <a:effectLst/>
            <a:uFillTx/>
            <a:latin typeface="Helvetica Neue Light"/>
            <a:ea typeface="Helvetica Neue Light"/>
            <a:cs typeface="Helvetica Neue Light"/>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